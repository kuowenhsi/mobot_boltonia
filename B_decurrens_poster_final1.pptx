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6"/>
  </p:notesMasterIdLst>
  <p:sldIdLst>
    <p:sldId id="256" r:id="rId5"/>
  </p:sldIdLst>
  <p:sldSz cx="32918400" cy="21945600"/>
  <p:notesSz cx="6858000" cy="9144000"/>
  <p:embeddedFontLst>
    <p:embeddedFont>
      <p:font typeface="Titillium Web" panose="00000500000000000000" pitchFamily="2" charset="0"/>
      <p:regular r:id="rId7"/>
      <p:bold r:id="rId8"/>
      <p:italic r:id="rId9"/>
      <p:boldItalic r:id="rId10"/>
    </p:embeddedFont>
  </p:embeddedFontLst>
  <p:custDataLst>
    <p:tags r:id="rId11"/>
  </p:custDataLst>
  <p:defaultTextStyle>
    <a:defPPr>
      <a:defRPr lang="en-US"/>
    </a:defPPr>
    <a:lvl1pPr algn="l" rtl="0" fontAlgn="base">
      <a:spcBef>
        <a:spcPct val="0"/>
      </a:spcBef>
      <a:spcAft>
        <a:spcPct val="0"/>
      </a:spcAft>
      <a:defRPr sz="2714" kern="1200">
        <a:solidFill>
          <a:schemeClr val="tx1"/>
        </a:solidFill>
        <a:latin typeface="Arial"/>
        <a:ea typeface="+mn-ea"/>
        <a:cs typeface="+mn-cs"/>
      </a:defRPr>
    </a:lvl1pPr>
    <a:lvl2pPr marL="326532" algn="l" rtl="0" fontAlgn="base">
      <a:spcBef>
        <a:spcPct val="0"/>
      </a:spcBef>
      <a:spcAft>
        <a:spcPct val="0"/>
      </a:spcAft>
      <a:defRPr sz="2714" kern="1200">
        <a:solidFill>
          <a:schemeClr val="tx1"/>
        </a:solidFill>
        <a:latin typeface="Arial"/>
        <a:ea typeface="+mn-ea"/>
        <a:cs typeface="+mn-cs"/>
      </a:defRPr>
    </a:lvl2pPr>
    <a:lvl3pPr marL="653064" algn="l" rtl="0" fontAlgn="base">
      <a:spcBef>
        <a:spcPct val="0"/>
      </a:spcBef>
      <a:spcAft>
        <a:spcPct val="0"/>
      </a:spcAft>
      <a:defRPr sz="2714" kern="1200">
        <a:solidFill>
          <a:schemeClr val="tx1"/>
        </a:solidFill>
        <a:latin typeface="Arial"/>
        <a:ea typeface="+mn-ea"/>
        <a:cs typeface="+mn-cs"/>
      </a:defRPr>
    </a:lvl3pPr>
    <a:lvl4pPr marL="979597" algn="l" rtl="0" fontAlgn="base">
      <a:spcBef>
        <a:spcPct val="0"/>
      </a:spcBef>
      <a:spcAft>
        <a:spcPct val="0"/>
      </a:spcAft>
      <a:defRPr sz="2714" kern="1200">
        <a:solidFill>
          <a:schemeClr val="tx1"/>
        </a:solidFill>
        <a:latin typeface="Arial"/>
        <a:ea typeface="+mn-ea"/>
        <a:cs typeface="+mn-cs"/>
      </a:defRPr>
    </a:lvl4pPr>
    <a:lvl5pPr marL="1306129" algn="l" rtl="0" fontAlgn="base">
      <a:spcBef>
        <a:spcPct val="0"/>
      </a:spcBef>
      <a:spcAft>
        <a:spcPct val="0"/>
      </a:spcAft>
      <a:defRPr sz="2714" kern="1200">
        <a:solidFill>
          <a:schemeClr val="tx1"/>
        </a:solidFill>
        <a:latin typeface="Arial"/>
        <a:ea typeface="+mn-ea"/>
        <a:cs typeface="+mn-cs"/>
      </a:defRPr>
    </a:lvl5pPr>
    <a:lvl6pPr marL="1632661" algn="l" defTabSz="653064" rtl="0" eaLnBrk="1" latinLnBrk="0" hangingPunct="1">
      <a:defRPr sz="2714" kern="1200">
        <a:solidFill>
          <a:schemeClr val="tx1"/>
        </a:solidFill>
        <a:latin typeface="Arial"/>
        <a:ea typeface="+mn-ea"/>
        <a:cs typeface="+mn-cs"/>
      </a:defRPr>
    </a:lvl6pPr>
    <a:lvl7pPr marL="1959193" algn="l" defTabSz="653064" rtl="0" eaLnBrk="1" latinLnBrk="0" hangingPunct="1">
      <a:defRPr sz="2714" kern="1200">
        <a:solidFill>
          <a:schemeClr val="tx1"/>
        </a:solidFill>
        <a:latin typeface="Arial"/>
        <a:ea typeface="+mn-ea"/>
        <a:cs typeface="+mn-cs"/>
      </a:defRPr>
    </a:lvl7pPr>
    <a:lvl8pPr marL="2285726" algn="l" defTabSz="653064" rtl="0" eaLnBrk="1" latinLnBrk="0" hangingPunct="1">
      <a:defRPr sz="2714" kern="1200">
        <a:solidFill>
          <a:schemeClr val="tx1"/>
        </a:solidFill>
        <a:latin typeface="Arial"/>
        <a:ea typeface="+mn-ea"/>
        <a:cs typeface="+mn-cs"/>
      </a:defRPr>
    </a:lvl8pPr>
    <a:lvl9pPr marL="2612258" algn="l" defTabSz="653064" rtl="0" eaLnBrk="1" latinLnBrk="0" hangingPunct="1">
      <a:defRPr sz="2714"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D5CD"/>
    <a:srgbClr val="03A97E"/>
    <a:srgbClr val="028260"/>
    <a:srgbClr val="03AD8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6531" autoAdjust="0"/>
    <p:restoredTop sz="95033" autoAdjust="0"/>
  </p:normalViewPr>
  <p:slideViewPr>
    <p:cSldViewPr>
      <p:cViewPr>
        <p:scale>
          <a:sx n="66" d="100"/>
          <a:sy n="66" d="100"/>
        </p:scale>
        <p:origin x="-6749" y="-6456"/>
      </p:cViewPr>
      <p:guideLst>
        <p:guide orient="horz" pos="6912"/>
        <p:guide pos="10368"/>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font" Target="fonts/font1.fntdata"/><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font" Target="fonts/font3.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anchor="t" anchorCtr="0" compatLnSpc="1">
            <a:prstTxWarp prst="textNoShape">
              <a:avLst/>
            </a:prstTxWarp>
          </a:bodyPr>
          <a:lstStyle>
            <a:defPPr>
              <a:defRPr kern="1200"/>
            </a:defPPr>
            <a:lvl1pPr>
              <a:defRPr sz="1200"/>
            </a:lvl1pPr>
          </a:lstStyle>
          <a:p>
            <a:pPr>
              <a:defRPr/>
            </a:pPr>
            <a:endParaRPr lang="en-US"/>
          </a:p>
        </p:txBody>
      </p:sp>
      <p:sp>
        <p:nvSpPr>
          <p:cNvPr id="9219" name="Rectangle 3"/>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anchor="t" anchorCtr="0" compatLnSpc="1">
            <a:prstTxWarp prst="textNoShape">
              <a:avLst/>
            </a:prstTxWarp>
          </a:bodyPr>
          <a:lstStyle>
            <a:defPPr>
              <a:defRPr kern="1200"/>
            </a:defPPr>
            <a:lvl1pPr algn="r">
              <a:defRPr sz="1200"/>
            </a:lvl1pPr>
          </a:lstStyle>
          <a:p>
            <a:pPr>
              <a:defRPr/>
            </a:pPr>
            <a:endParaRPr lang="en-US"/>
          </a:p>
        </p:txBody>
      </p:sp>
      <p:sp>
        <p:nvSpPr>
          <p:cNvPr id="3076" name="Rectangle 4"/>
          <p:cNvSpPr>
            <a:spLocks noGrp="1" noRot="1" noChangeAspect="1" noChangeArrowheads="1" noTextEdit="1"/>
          </p:cNvSpPr>
          <p:nvPr>
            <p:ph type="sldImg" idx="2"/>
          </p:nvPr>
        </p:nvSpPr>
        <p:spPr bwMode="auto">
          <a:xfrm>
            <a:off x="857250" y="685800"/>
            <a:ext cx="51435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a:noFill/>
          </a:ln>
        </p:spPr>
        <p:txBody>
          <a:bodyPr vert="horz" wrap="square" lIns="91440" tIns="45720" rIns="91440" bIns="45720" anchor="t" anchorCtr="0" compatLnSpc="1">
            <a:prstTxWarp prst="textNoShape">
              <a:avLst/>
            </a:prstTxWarp>
          </a:bodyPr>
          <a:lstStyle>
            <a:defPPr>
              <a:defRPr kern="1200"/>
            </a:def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anchor="b" anchorCtr="0" compatLnSpc="1">
            <a:prstTxWarp prst="textNoShape">
              <a:avLst/>
            </a:prstTxWarp>
          </a:bodyPr>
          <a:lstStyle>
            <a:defPPr>
              <a:defRPr kern="1200"/>
            </a:defPPr>
            <a:lvl1pPr>
              <a:defRPr sz="1200"/>
            </a:lvl1pPr>
          </a:lstStyle>
          <a:p>
            <a:pPr>
              <a:defRPr/>
            </a:pPr>
            <a:endParaRPr lang="en-US"/>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anchor="b" anchorCtr="0" compatLnSpc="1">
            <a:prstTxWarp prst="textNoShape">
              <a:avLst/>
            </a:prstTxWarp>
          </a:bodyPr>
          <a:lstStyle>
            <a:defPPr>
              <a:defRPr kern="1200"/>
            </a:defPPr>
            <a:lvl1pPr algn="r">
              <a:defRPr sz="1200"/>
            </a:lvl1pPr>
          </a:lstStyle>
          <a:p>
            <a:pPr>
              <a:defRPr/>
            </a:pPr>
            <a:fld id="{B95F3361-2405-48EE-818C-467D1C2230F9}" type="slidenum">
              <a:rPr lang="en-US"/>
              <a:pPr>
                <a:defRPr/>
              </a:pPr>
              <a:t>‹#›</a:t>
            </a:fld>
            <a:endParaRPr lang="en-US"/>
          </a:p>
        </p:txBody>
      </p:sp>
    </p:spTree>
    <p:extLst>
      <p:ext uri="{BB962C8B-B14F-4D97-AF65-F5344CB8AC3E}">
        <p14:creationId xmlns:p14="http://schemas.microsoft.com/office/powerpoint/2010/main" val="38427364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857" kern="1200">
        <a:solidFill>
          <a:schemeClr val="tx1"/>
        </a:solidFill>
        <a:latin typeface="Arial"/>
        <a:ea typeface="+mn-ea"/>
        <a:cs typeface="+mn-cs"/>
      </a:defRPr>
    </a:lvl1pPr>
    <a:lvl2pPr marL="326532" algn="l" rtl="0" eaLnBrk="0" fontAlgn="base" hangingPunct="0">
      <a:spcBef>
        <a:spcPct val="30000"/>
      </a:spcBef>
      <a:spcAft>
        <a:spcPct val="0"/>
      </a:spcAft>
      <a:defRPr sz="857" kern="1200">
        <a:solidFill>
          <a:schemeClr val="tx1"/>
        </a:solidFill>
        <a:latin typeface="Arial"/>
        <a:ea typeface="+mn-ea"/>
        <a:cs typeface="+mn-cs"/>
      </a:defRPr>
    </a:lvl2pPr>
    <a:lvl3pPr marL="653064" algn="l" rtl="0" eaLnBrk="0" fontAlgn="base" hangingPunct="0">
      <a:spcBef>
        <a:spcPct val="30000"/>
      </a:spcBef>
      <a:spcAft>
        <a:spcPct val="0"/>
      </a:spcAft>
      <a:defRPr sz="857" kern="1200">
        <a:solidFill>
          <a:schemeClr val="tx1"/>
        </a:solidFill>
        <a:latin typeface="Arial"/>
        <a:ea typeface="+mn-ea"/>
        <a:cs typeface="+mn-cs"/>
      </a:defRPr>
    </a:lvl3pPr>
    <a:lvl4pPr marL="979597" algn="l" rtl="0" eaLnBrk="0" fontAlgn="base" hangingPunct="0">
      <a:spcBef>
        <a:spcPct val="30000"/>
      </a:spcBef>
      <a:spcAft>
        <a:spcPct val="0"/>
      </a:spcAft>
      <a:defRPr sz="857" kern="1200">
        <a:solidFill>
          <a:schemeClr val="tx1"/>
        </a:solidFill>
        <a:latin typeface="Arial"/>
        <a:ea typeface="+mn-ea"/>
        <a:cs typeface="+mn-cs"/>
      </a:defRPr>
    </a:lvl4pPr>
    <a:lvl5pPr marL="1306129" algn="l" rtl="0" eaLnBrk="0" fontAlgn="base" hangingPunct="0">
      <a:spcBef>
        <a:spcPct val="30000"/>
      </a:spcBef>
      <a:spcAft>
        <a:spcPct val="0"/>
      </a:spcAft>
      <a:defRPr sz="857" kern="1200">
        <a:solidFill>
          <a:schemeClr val="tx1"/>
        </a:solidFill>
        <a:latin typeface="Arial"/>
        <a:ea typeface="+mn-ea"/>
        <a:cs typeface="+mn-cs"/>
      </a:defRPr>
    </a:lvl5pPr>
    <a:lvl6pPr marL="1632661" algn="l" defTabSz="653064" rtl="0" eaLnBrk="1" latinLnBrk="0" hangingPunct="1">
      <a:defRPr sz="857" kern="1200">
        <a:solidFill>
          <a:schemeClr val="tx1"/>
        </a:solidFill>
        <a:latin typeface="+mn-lt"/>
        <a:ea typeface="+mn-ea"/>
        <a:cs typeface="+mn-cs"/>
      </a:defRPr>
    </a:lvl6pPr>
    <a:lvl7pPr marL="1959193" algn="l" defTabSz="653064" rtl="0" eaLnBrk="1" latinLnBrk="0" hangingPunct="1">
      <a:defRPr sz="857" kern="1200">
        <a:solidFill>
          <a:schemeClr val="tx1"/>
        </a:solidFill>
        <a:latin typeface="+mn-lt"/>
        <a:ea typeface="+mn-ea"/>
        <a:cs typeface="+mn-cs"/>
      </a:defRPr>
    </a:lvl7pPr>
    <a:lvl8pPr marL="2285726" algn="l" defTabSz="653064" rtl="0" eaLnBrk="1" latinLnBrk="0" hangingPunct="1">
      <a:defRPr sz="857" kern="1200">
        <a:solidFill>
          <a:schemeClr val="tx1"/>
        </a:solidFill>
        <a:latin typeface="+mn-lt"/>
        <a:ea typeface="+mn-ea"/>
        <a:cs typeface="+mn-cs"/>
      </a:defRPr>
    </a:lvl8pPr>
    <a:lvl9pPr marL="2612258" algn="l" defTabSz="653064" rtl="0" eaLnBrk="1" latinLnBrk="0" hangingPunct="1">
      <a:defRPr sz="8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kern="1200"/>
            </a:defPPr>
            <a:lvl1pPr eaLnBrk="0" hangingPunct="0">
              <a:defRPr sz="3800">
                <a:solidFill>
                  <a:schemeClr val="tx1"/>
                </a:solidFill>
                <a:latin typeface="Arial"/>
              </a:defRPr>
            </a:lvl1pPr>
            <a:lvl2pPr marL="742950" indent="-285750" eaLnBrk="0" hangingPunct="0">
              <a:defRPr sz="3800">
                <a:solidFill>
                  <a:schemeClr val="tx1"/>
                </a:solidFill>
                <a:latin typeface="Arial"/>
              </a:defRPr>
            </a:lvl2pPr>
            <a:lvl3pPr marL="1143000" indent="-228600" eaLnBrk="0" hangingPunct="0">
              <a:defRPr sz="3800">
                <a:solidFill>
                  <a:schemeClr val="tx1"/>
                </a:solidFill>
                <a:latin typeface="Arial"/>
              </a:defRPr>
            </a:lvl3pPr>
            <a:lvl4pPr marL="1600200" indent="-228600" eaLnBrk="0" hangingPunct="0">
              <a:defRPr sz="3800">
                <a:solidFill>
                  <a:schemeClr val="tx1"/>
                </a:solidFill>
                <a:latin typeface="Arial"/>
              </a:defRPr>
            </a:lvl4pPr>
            <a:lvl5pPr marL="2057400" indent="-228600" eaLnBrk="0" hangingPunct="0">
              <a:defRPr sz="3800">
                <a:solidFill>
                  <a:schemeClr val="tx1"/>
                </a:solidFill>
                <a:latin typeface="Arial"/>
              </a:defRPr>
            </a:lvl5pPr>
            <a:lvl6pPr marL="2514600" indent="-228600" eaLnBrk="0" fontAlgn="base" hangingPunct="0">
              <a:spcBef>
                <a:spcPct val="0"/>
              </a:spcBef>
              <a:spcAft>
                <a:spcPct val="0"/>
              </a:spcAft>
              <a:defRPr sz="3800">
                <a:solidFill>
                  <a:schemeClr val="tx1"/>
                </a:solidFill>
                <a:latin typeface="Arial"/>
              </a:defRPr>
            </a:lvl6pPr>
            <a:lvl7pPr marL="2971800" indent="-228600" eaLnBrk="0" fontAlgn="base" hangingPunct="0">
              <a:spcBef>
                <a:spcPct val="0"/>
              </a:spcBef>
              <a:spcAft>
                <a:spcPct val="0"/>
              </a:spcAft>
              <a:defRPr sz="3800">
                <a:solidFill>
                  <a:schemeClr val="tx1"/>
                </a:solidFill>
                <a:latin typeface="Arial"/>
              </a:defRPr>
            </a:lvl7pPr>
            <a:lvl8pPr marL="3429000" indent="-228600" eaLnBrk="0" fontAlgn="base" hangingPunct="0">
              <a:spcBef>
                <a:spcPct val="0"/>
              </a:spcBef>
              <a:spcAft>
                <a:spcPct val="0"/>
              </a:spcAft>
              <a:defRPr sz="3800">
                <a:solidFill>
                  <a:schemeClr val="tx1"/>
                </a:solidFill>
                <a:latin typeface="Arial"/>
              </a:defRPr>
            </a:lvl8pPr>
            <a:lvl9pPr marL="3886200" indent="-228600" eaLnBrk="0" fontAlgn="base" hangingPunct="0">
              <a:spcBef>
                <a:spcPct val="0"/>
              </a:spcBef>
              <a:spcAft>
                <a:spcPct val="0"/>
              </a:spcAft>
              <a:defRPr sz="3800">
                <a:solidFill>
                  <a:schemeClr val="tx1"/>
                </a:solidFill>
                <a:latin typeface="Arial"/>
              </a:defRPr>
            </a:lvl9pPr>
          </a:lstStyle>
          <a:p>
            <a:pPr eaLnBrk="1" hangingPunct="1"/>
            <a:fld id="{78EE7683-CAC2-4B7F-B858-28F016B0AEB9}" type="slidenum">
              <a:rPr lang="en-US" sz="1200" smtClean="0"/>
              <a:pPr eaLnBrk="1" hangingPunct="1"/>
              <a:t>1</a:t>
            </a:fld>
            <a:endParaRPr lang="en-US" sz="1200"/>
          </a:p>
        </p:txBody>
      </p:sp>
      <p:sp>
        <p:nvSpPr>
          <p:cNvPr id="4099" name="Rectangle 2"/>
          <p:cNvSpPr>
            <a:spLocks noGrp="1" noRot="1" noChangeAspect="1" noChangeArrowheads="1" noTextEdit="1"/>
          </p:cNvSpPr>
          <p:nvPr>
            <p:ph type="sldImg"/>
          </p:nvPr>
        </p:nvSpPr>
        <p:spPr>
          <a:xfrm>
            <a:off x="857250" y="685800"/>
            <a:ext cx="5143500" cy="3429000"/>
          </a:xfrm>
        </p:spPr>
      </p:sp>
      <p:sp>
        <p:nvSpPr>
          <p:cNvPr id="41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kern="1200"/>
            </a:defPPr>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6" y="6817784"/>
            <a:ext cx="2797968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2435417"/>
            <a:ext cx="23043356"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CB043562-595C-41E0-A431-AB378AFFB518}" type="slidenum">
              <a:rPr lang="en-US"/>
              <a:pPr>
                <a:defRPr/>
              </a:pPr>
              <a:t>‹#›</a:t>
            </a:fld>
            <a:endParaRPr lang="en-US"/>
          </a:p>
        </p:txBody>
      </p:sp>
    </p:spTree>
    <p:extLst>
      <p:ext uri="{BB962C8B-B14F-4D97-AF65-F5344CB8AC3E}">
        <p14:creationId xmlns:p14="http://schemas.microsoft.com/office/powerpoint/2010/main" val="411955256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E844B6AF-379B-4B34-AAC6-97D3032A49C6}" type="slidenum">
              <a:rPr lang="en-US"/>
              <a:pPr>
                <a:defRPr/>
              </a:pPr>
              <a:t>‹#›</a:t>
            </a:fld>
            <a:endParaRPr lang="en-US"/>
          </a:p>
        </p:txBody>
      </p:sp>
    </p:spTree>
    <p:extLst>
      <p:ext uri="{BB962C8B-B14F-4D97-AF65-F5344CB8AC3E}">
        <p14:creationId xmlns:p14="http://schemas.microsoft.com/office/powerpoint/2010/main" val="181661525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293"/>
            <a:ext cx="2798087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5" y="9301692"/>
            <a:ext cx="2798087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44BFBC0-7F94-4CE5-A00D-18BE726F285A}" type="slidenum">
              <a:rPr lang="en-US"/>
              <a:pPr>
                <a:defRPr/>
              </a:pPr>
              <a:t>‹#›</a:t>
            </a:fld>
            <a:endParaRPr lang="en-US"/>
          </a:p>
        </p:txBody>
      </p:sp>
    </p:spTree>
    <p:extLst>
      <p:ext uri="{BB962C8B-B14F-4D97-AF65-F5344CB8AC3E}">
        <p14:creationId xmlns:p14="http://schemas.microsoft.com/office/powerpoint/2010/main" val="416515911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5444"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CDF645C6-96DC-4F21-9A48-95AFF68A54A2}" type="slidenum">
              <a:rPr lang="en-US"/>
              <a:pPr>
                <a:defRPr/>
              </a:pPr>
              <a:t>‹#›</a:t>
            </a:fld>
            <a:endParaRPr lang="en-US"/>
          </a:p>
        </p:txBody>
      </p:sp>
    </p:spTree>
    <p:extLst>
      <p:ext uri="{BB962C8B-B14F-4D97-AF65-F5344CB8AC3E}">
        <p14:creationId xmlns:p14="http://schemas.microsoft.com/office/powerpoint/2010/main" val="388354793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4912784"/>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444"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4912784"/>
            <a:ext cx="14550630"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2328" y="6959600"/>
            <a:ext cx="14550630"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C2B12CE4-144C-4A27-8B3F-7EB79E6B2146}" type="slidenum">
              <a:rPr lang="en-US"/>
              <a:pPr>
                <a:defRPr/>
              </a:pPr>
              <a:t>‹#›</a:t>
            </a:fld>
            <a:endParaRPr lang="en-US"/>
          </a:p>
        </p:txBody>
      </p:sp>
    </p:spTree>
    <p:extLst>
      <p:ext uri="{BB962C8B-B14F-4D97-AF65-F5344CB8AC3E}">
        <p14:creationId xmlns:p14="http://schemas.microsoft.com/office/powerpoint/2010/main" val="18185236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8F1FAA83-0A80-48DF-A2A9-D01CE04D8E50}" type="slidenum">
              <a:rPr lang="en-US"/>
              <a:pPr>
                <a:defRPr/>
              </a:pPr>
              <a:t>‹#›</a:t>
            </a:fld>
            <a:endParaRPr lang="en-US"/>
          </a:p>
        </p:txBody>
      </p:sp>
    </p:spTree>
    <p:extLst>
      <p:ext uri="{BB962C8B-B14F-4D97-AF65-F5344CB8AC3E}">
        <p14:creationId xmlns:p14="http://schemas.microsoft.com/office/powerpoint/2010/main" val="65837894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8203DA95-0AAE-48A7-9DEF-F9FD3932C4A9}" type="slidenum">
              <a:rPr lang="en-US"/>
              <a:pPr>
                <a:defRPr/>
              </a:pPr>
              <a:t>‹#›</a:t>
            </a:fld>
            <a:endParaRPr lang="en-US"/>
          </a:p>
        </p:txBody>
      </p:sp>
    </p:spTree>
    <p:extLst>
      <p:ext uri="{BB962C8B-B14F-4D97-AF65-F5344CB8AC3E}">
        <p14:creationId xmlns:p14="http://schemas.microsoft.com/office/powerpoint/2010/main" val="74586203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656"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D77038B2-2801-40BE-BC48-C628781FF49E}" type="slidenum">
              <a:rPr lang="en-US"/>
              <a:pPr>
                <a:defRPr/>
              </a:pPr>
              <a:t>‹#›</a:t>
            </a:fld>
            <a:endParaRPr lang="en-US"/>
          </a:p>
        </p:txBody>
      </p:sp>
    </p:spTree>
    <p:extLst>
      <p:ext uri="{BB962C8B-B14F-4D97-AF65-F5344CB8AC3E}">
        <p14:creationId xmlns:p14="http://schemas.microsoft.com/office/powerpoint/2010/main" val="396973015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7" y="15361709"/>
            <a:ext cx="19751280"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1997" y="1961092"/>
            <a:ext cx="19751280"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1997" y="17175693"/>
            <a:ext cx="19751280"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700A3960-9A0E-4A4A-BE72-10B88343DD28}" type="slidenum">
              <a:rPr lang="en-US"/>
              <a:pPr>
                <a:defRPr/>
              </a:pPr>
              <a:t>‹#›</a:t>
            </a:fld>
            <a:endParaRPr lang="en-US"/>
          </a:p>
        </p:txBody>
      </p:sp>
    </p:spTree>
    <p:extLst>
      <p:ext uri="{BB962C8B-B14F-4D97-AF65-F5344CB8AC3E}">
        <p14:creationId xmlns:p14="http://schemas.microsoft.com/office/powerpoint/2010/main" val="258630283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11865ABB-973D-4162-96BF-63AD8AB82A90}" type="slidenum">
              <a:rPr lang="en-US"/>
              <a:pPr>
                <a:defRPr/>
              </a:pPr>
              <a:t>‹#›</a:t>
            </a:fld>
            <a:endParaRPr lang="en-US"/>
          </a:p>
        </p:txBody>
      </p:sp>
    </p:spTree>
    <p:extLst>
      <p:ext uri="{BB962C8B-B14F-4D97-AF65-F5344CB8AC3E}">
        <p14:creationId xmlns:p14="http://schemas.microsoft.com/office/powerpoint/2010/main" val="428143995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0" y="878417"/>
            <a:ext cx="7406878" cy="1872615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5444" y="878417"/>
            <a:ext cx="22106334" cy="1872615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38E2FC5-3957-4F45-8892-8AA180862785}" type="slidenum">
              <a:rPr lang="en-US"/>
              <a:pPr>
                <a:defRPr/>
              </a:pPr>
              <a:t>‹#›</a:t>
            </a:fld>
            <a:endParaRPr lang="en-US"/>
          </a:p>
        </p:txBody>
      </p:sp>
    </p:spTree>
    <p:extLst>
      <p:ext uri="{BB962C8B-B14F-4D97-AF65-F5344CB8AC3E}">
        <p14:creationId xmlns:p14="http://schemas.microsoft.com/office/powerpoint/2010/main" val="175926670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1645444" y="878417"/>
            <a:ext cx="29627512" cy="3657600"/>
          </a:xfrm>
        </p:spPr>
        <p:txBody>
          <a:bodyPr/>
          <a:lstStyle>
            <a:defPPr>
              <a:defRPr kern="1200"/>
            </a:defPPr>
          </a:lstStyle>
          <a:p>
            <a:r>
              <a:rPr lang="en-US"/>
              <a:t>Click to edit Master title style</a:t>
            </a:r>
          </a:p>
        </p:txBody>
      </p:sp>
      <p:sp>
        <p:nvSpPr>
          <p:cNvPr id="3" name="Text Placeholder 2"/>
          <p:cNvSpPr>
            <a:spLocks noGrp="1"/>
          </p:cNvSpPr>
          <p:nvPr>
            <p:ph type="body" sz="half" idx="1"/>
          </p:nvPr>
        </p:nvSpPr>
        <p:spPr>
          <a:xfrm>
            <a:off x="1645444" y="5120217"/>
            <a:ext cx="14756606" cy="14484350"/>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16516352" y="5120217"/>
            <a:ext cx="14756606" cy="14484350"/>
          </a:xfrm>
        </p:spPr>
        <p:txBody>
          <a:bodyPr/>
          <a:lstStyle>
            <a:defPPr>
              <a:defRPr kern="1200"/>
            </a:defPPr>
          </a:lstStyle>
          <a:p>
            <a:pPr lvl="0"/>
            <a:endParaRPr lang="en-US" noProof="0"/>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4FA04B66-8F62-42BD-B0EA-2923AA341B7B}" type="slidenum">
              <a:rPr lang="en-US"/>
              <a:pPr>
                <a:defRPr/>
              </a:pPr>
              <a:t>‹#›</a:t>
            </a:fld>
            <a:endParaRPr lang="en-US"/>
          </a:p>
        </p:txBody>
      </p:sp>
    </p:spTree>
    <p:extLst>
      <p:ext uri="{BB962C8B-B14F-4D97-AF65-F5344CB8AC3E}">
        <p14:creationId xmlns:p14="http://schemas.microsoft.com/office/powerpoint/2010/main" val="178465889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878417"/>
            <a:ext cx="29627512"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70207" tIns="235104" rIns="470207" bIns="235104"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5444" y="5120217"/>
            <a:ext cx="29627512" cy="144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70207" tIns="235104" rIns="470207" bIns="235104"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19985568"/>
            <a:ext cx="7681913" cy="1524000"/>
          </a:xfrm>
          <a:prstGeom prst="rect">
            <a:avLst/>
          </a:prstGeom>
          <a:noFill/>
          <a:ln>
            <a:noFill/>
          </a:ln>
        </p:spPr>
        <p:txBody>
          <a:bodyPr vert="horz" wrap="square" lIns="470207" tIns="235104" rIns="470207" bIns="235104" anchor="t" anchorCtr="0" compatLnSpc="1">
            <a:prstTxWarp prst="textNoShape">
              <a:avLst/>
            </a:prstTxWarp>
          </a:bodyPr>
          <a:lstStyle>
            <a:defPPr>
              <a:defRPr kern="1200"/>
            </a:defPPr>
            <a:lvl1pPr>
              <a:defRPr sz="4734" smtClean="0"/>
            </a:lvl1pPr>
          </a:lstStyle>
          <a:p>
            <a:pPr>
              <a:defRPr/>
            </a:pPr>
            <a:endParaRPr lang="en-US"/>
          </a:p>
        </p:txBody>
      </p:sp>
      <p:sp>
        <p:nvSpPr>
          <p:cNvPr id="1029" name="Rectangle 5"/>
          <p:cNvSpPr>
            <a:spLocks noGrp="1" noChangeArrowheads="1"/>
          </p:cNvSpPr>
          <p:nvPr>
            <p:ph type="ftr" sz="quarter" idx="3"/>
          </p:nvPr>
        </p:nvSpPr>
        <p:spPr bwMode="auto">
          <a:xfrm>
            <a:off x="11246644" y="19985568"/>
            <a:ext cx="10425113" cy="1524000"/>
          </a:xfrm>
          <a:prstGeom prst="rect">
            <a:avLst/>
          </a:prstGeom>
          <a:noFill/>
          <a:ln>
            <a:noFill/>
          </a:ln>
        </p:spPr>
        <p:txBody>
          <a:bodyPr vert="horz" wrap="square" lIns="470207" tIns="235104" rIns="470207" bIns="235104" anchor="t" anchorCtr="0" compatLnSpc="1">
            <a:prstTxWarp prst="textNoShape">
              <a:avLst/>
            </a:prstTxWarp>
          </a:bodyPr>
          <a:lstStyle>
            <a:defPPr>
              <a:defRPr kern="1200"/>
            </a:defPPr>
            <a:lvl1pPr algn="ctr">
              <a:defRPr sz="4734" smtClean="0"/>
            </a:lvl1pPr>
          </a:lstStyle>
          <a:p>
            <a:pPr>
              <a:defRPr/>
            </a:pPr>
            <a:endParaRPr lang="en-US"/>
          </a:p>
        </p:txBody>
      </p:sp>
      <p:sp>
        <p:nvSpPr>
          <p:cNvPr id="1030" name="Rectangle 6"/>
          <p:cNvSpPr>
            <a:spLocks noGrp="1" noChangeArrowheads="1"/>
          </p:cNvSpPr>
          <p:nvPr>
            <p:ph type="sldNum" sz="quarter" idx="4"/>
          </p:nvPr>
        </p:nvSpPr>
        <p:spPr bwMode="auto">
          <a:xfrm>
            <a:off x="23591044" y="19985568"/>
            <a:ext cx="7681913" cy="1524000"/>
          </a:xfrm>
          <a:prstGeom prst="rect">
            <a:avLst/>
          </a:prstGeom>
          <a:noFill/>
          <a:ln>
            <a:noFill/>
          </a:ln>
        </p:spPr>
        <p:txBody>
          <a:bodyPr vert="horz" wrap="square" lIns="470207" tIns="235104" rIns="470207" bIns="235104" anchor="t" anchorCtr="0" compatLnSpc="1">
            <a:prstTxWarp prst="textNoShape">
              <a:avLst/>
            </a:prstTxWarp>
          </a:bodyPr>
          <a:lstStyle>
            <a:defPPr>
              <a:defRPr kern="1200"/>
            </a:defPPr>
            <a:lvl1pPr algn="r">
              <a:defRPr sz="4734" smtClean="0"/>
            </a:lvl1pPr>
          </a:lstStyle>
          <a:p>
            <a:pPr>
              <a:defRPr/>
            </a:pPr>
            <a:fld id="{2839560C-692A-406E-AC47-35009443A5A0}" type="slidenum">
              <a:rPr lang="en-US"/>
              <a:pPr>
                <a:defRPr/>
              </a:pPr>
              <a:t>‹#›</a:t>
            </a:fld>
            <a:endParaRPr lang="en-US"/>
          </a:p>
        </p:txBody>
      </p:sp>
      <p:pic>
        <p:nvPicPr>
          <p:cNvPr id="1031" name="New picture"/>
          <p:cNvPicPr/>
          <p:nvPr/>
        </p:nvPicPr>
        <p:blipFill>
          <a:blip r:embed="rId14"/>
          <a:stretch>
            <a:fillRect/>
          </a:stretch>
        </p:blipFill>
        <p:spPr>
          <a:xfrm rot="16200000">
            <a:off x="-11074400" y="10972800"/>
            <a:ext cx="14274800" cy="3937000"/>
          </a:xfrm>
          <a:prstGeom prst="rect">
            <a:avLst/>
          </a:prstGeom>
        </p:spPr>
      </p:pic>
      <p:pic>
        <p:nvPicPr>
          <p:cNvPr id="1032" name="New picture"/>
          <p:cNvPicPr/>
          <p:nvPr/>
        </p:nvPicPr>
        <p:blipFill>
          <a:blip r:embed="rId14"/>
          <a:stretch>
            <a:fillRect/>
          </a:stretch>
        </p:blipFill>
        <p:spPr>
          <a:xfrm rot="5400000">
            <a:off x="29718000" y="10972800"/>
            <a:ext cx="14274800" cy="3937000"/>
          </a:xfrm>
          <a:prstGeom prst="rect">
            <a:avLst/>
          </a:prstGeom>
        </p:spPr>
      </p:pic>
      <p:pic>
        <p:nvPicPr>
          <p:cNvPr id="1033" name="New picture"/>
          <p:cNvPicPr/>
          <p:nvPr/>
        </p:nvPicPr>
        <p:blipFill>
          <a:blip r:embed="rId15"/>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philosophicalseafoam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defPPr>
        <a:defRPr kern="1200"/>
      </a:defPPr>
      <a:lvl1pPr algn="ctr" defTabSz="3135999" rtl="0" eaLnBrk="0" fontAlgn="base" hangingPunct="0">
        <a:spcBef>
          <a:spcPct val="0"/>
        </a:spcBef>
        <a:spcAft>
          <a:spcPct val="0"/>
        </a:spcAft>
        <a:defRPr sz="15134">
          <a:solidFill>
            <a:schemeClr val="tx2"/>
          </a:solidFill>
          <a:latin typeface="+mj-lt"/>
          <a:ea typeface="+mj-ea"/>
          <a:cs typeface="+mj-cs"/>
        </a:defRPr>
      </a:lvl1pPr>
      <a:lvl2pPr algn="ctr" defTabSz="3135999" rtl="0" eaLnBrk="0" fontAlgn="base" hangingPunct="0">
        <a:spcBef>
          <a:spcPct val="0"/>
        </a:spcBef>
        <a:spcAft>
          <a:spcPct val="0"/>
        </a:spcAft>
        <a:defRPr sz="15134">
          <a:solidFill>
            <a:schemeClr val="tx2"/>
          </a:solidFill>
          <a:latin typeface="Arial"/>
        </a:defRPr>
      </a:lvl2pPr>
      <a:lvl3pPr algn="ctr" defTabSz="3135999" rtl="0" eaLnBrk="0" fontAlgn="base" hangingPunct="0">
        <a:spcBef>
          <a:spcPct val="0"/>
        </a:spcBef>
        <a:spcAft>
          <a:spcPct val="0"/>
        </a:spcAft>
        <a:defRPr sz="15134">
          <a:solidFill>
            <a:schemeClr val="tx2"/>
          </a:solidFill>
          <a:latin typeface="Arial"/>
        </a:defRPr>
      </a:lvl3pPr>
      <a:lvl4pPr algn="ctr" defTabSz="3135999" rtl="0" eaLnBrk="0" fontAlgn="base" hangingPunct="0">
        <a:spcBef>
          <a:spcPct val="0"/>
        </a:spcBef>
        <a:spcAft>
          <a:spcPct val="0"/>
        </a:spcAft>
        <a:defRPr sz="15134">
          <a:solidFill>
            <a:schemeClr val="tx2"/>
          </a:solidFill>
          <a:latin typeface="Arial"/>
        </a:defRPr>
      </a:lvl4pPr>
      <a:lvl5pPr algn="ctr" defTabSz="3135999" rtl="0" eaLnBrk="0" fontAlgn="base" hangingPunct="0">
        <a:spcBef>
          <a:spcPct val="0"/>
        </a:spcBef>
        <a:spcAft>
          <a:spcPct val="0"/>
        </a:spcAft>
        <a:defRPr sz="15134">
          <a:solidFill>
            <a:schemeClr val="tx2"/>
          </a:solidFill>
          <a:latin typeface="Arial"/>
        </a:defRPr>
      </a:lvl5pPr>
      <a:lvl6pPr marL="304815" algn="ctr" defTabSz="3135999" rtl="0" fontAlgn="base">
        <a:spcBef>
          <a:spcPct val="0"/>
        </a:spcBef>
        <a:spcAft>
          <a:spcPct val="0"/>
        </a:spcAft>
        <a:defRPr sz="15134">
          <a:solidFill>
            <a:schemeClr val="tx2"/>
          </a:solidFill>
          <a:latin typeface="Arial"/>
        </a:defRPr>
      </a:lvl6pPr>
      <a:lvl7pPr marL="609630" algn="ctr" defTabSz="3135999" rtl="0" fontAlgn="base">
        <a:spcBef>
          <a:spcPct val="0"/>
        </a:spcBef>
        <a:spcAft>
          <a:spcPct val="0"/>
        </a:spcAft>
        <a:defRPr sz="15134">
          <a:solidFill>
            <a:schemeClr val="tx2"/>
          </a:solidFill>
          <a:latin typeface="Arial"/>
        </a:defRPr>
      </a:lvl7pPr>
      <a:lvl8pPr marL="914446" algn="ctr" defTabSz="3135999" rtl="0" fontAlgn="base">
        <a:spcBef>
          <a:spcPct val="0"/>
        </a:spcBef>
        <a:spcAft>
          <a:spcPct val="0"/>
        </a:spcAft>
        <a:defRPr sz="15134">
          <a:solidFill>
            <a:schemeClr val="tx2"/>
          </a:solidFill>
          <a:latin typeface="Arial"/>
        </a:defRPr>
      </a:lvl8pPr>
      <a:lvl9pPr marL="1219261" algn="ctr" defTabSz="3135999" rtl="0" fontAlgn="base">
        <a:spcBef>
          <a:spcPct val="0"/>
        </a:spcBef>
        <a:spcAft>
          <a:spcPct val="0"/>
        </a:spcAft>
        <a:defRPr sz="15134">
          <a:solidFill>
            <a:schemeClr val="tx2"/>
          </a:solidFill>
          <a:latin typeface="Arial"/>
        </a:defRPr>
      </a:lvl9pPr>
    </p:titleStyle>
    <p:bodyStyle>
      <a:defPPr>
        <a:defRPr kern="1200"/>
      </a:defPPr>
      <a:lvl1pPr marL="1174809" indent="-1174809" algn="l" defTabSz="3135999" rtl="0" eaLnBrk="0" fontAlgn="base" hangingPunct="0">
        <a:spcBef>
          <a:spcPct val="20000"/>
        </a:spcBef>
        <a:spcAft>
          <a:spcPct val="0"/>
        </a:spcAft>
        <a:buChar char="•"/>
        <a:defRPr sz="11001">
          <a:solidFill>
            <a:schemeClr val="tx1"/>
          </a:solidFill>
          <a:latin typeface="+mn-lt"/>
          <a:ea typeface="+mn-ea"/>
          <a:cs typeface="+mn-cs"/>
        </a:defRPr>
      </a:lvl1pPr>
      <a:lvl2pPr marL="2548594" indent="-981124" algn="l" defTabSz="3135999" rtl="0" eaLnBrk="0" fontAlgn="base" hangingPunct="0">
        <a:spcBef>
          <a:spcPct val="20000"/>
        </a:spcBef>
        <a:spcAft>
          <a:spcPct val="0"/>
        </a:spcAft>
        <a:buChar char="–"/>
        <a:defRPr sz="9600">
          <a:solidFill>
            <a:schemeClr val="tx1"/>
          </a:solidFill>
          <a:latin typeface="+mn-lt"/>
        </a:defRPr>
      </a:lvl2pPr>
      <a:lvl3pPr marL="3917088" indent="-781089" algn="l" defTabSz="3135999" rtl="0" eaLnBrk="0" fontAlgn="base" hangingPunct="0">
        <a:spcBef>
          <a:spcPct val="20000"/>
        </a:spcBef>
        <a:spcAft>
          <a:spcPct val="0"/>
        </a:spcAft>
        <a:buChar char="•"/>
        <a:defRPr sz="8267">
          <a:solidFill>
            <a:schemeClr val="tx1"/>
          </a:solidFill>
          <a:latin typeface="+mn-lt"/>
        </a:defRPr>
      </a:lvl3pPr>
      <a:lvl4pPr marL="5485616" indent="-782148" algn="l" defTabSz="3135999" rtl="0" eaLnBrk="0" fontAlgn="base" hangingPunct="0">
        <a:spcBef>
          <a:spcPct val="20000"/>
        </a:spcBef>
        <a:spcAft>
          <a:spcPct val="0"/>
        </a:spcAft>
        <a:buChar char="–"/>
        <a:defRPr sz="6867">
          <a:solidFill>
            <a:schemeClr val="tx1"/>
          </a:solidFill>
          <a:latin typeface="+mn-lt"/>
        </a:defRPr>
      </a:lvl4pPr>
      <a:lvl5pPr marL="7055203" indent="-784265" algn="l" defTabSz="3135999" rtl="0" eaLnBrk="0" fontAlgn="base" hangingPunct="0">
        <a:spcBef>
          <a:spcPct val="20000"/>
        </a:spcBef>
        <a:spcAft>
          <a:spcPct val="0"/>
        </a:spcAft>
        <a:buChar char="»"/>
        <a:defRPr sz="6867">
          <a:solidFill>
            <a:schemeClr val="tx1"/>
          </a:solidFill>
          <a:latin typeface="+mn-lt"/>
        </a:defRPr>
      </a:lvl5pPr>
      <a:lvl6pPr marL="7360018" indent="-784265" algn="l" defTabSz="3135999" rtl="0" fontAlgn="base">
        <a:spcBef>
          <a:spcPct val="20000"/>
        </a:spcBef>
        <a:spcAft>
          <a:spcPct val="0"/>
        </a:spcAft>
        <a:buChar char="»"/>
        <a:defRPr sz="6867">
          <a:solidFill>
            <a:schemeClr val="tx1"/>
          </a:solidFill>
          <a:latin typeface="+mn-lt"/>
        </a:defRPr>
      </a:lvl6pPr>
      <a:lvl7pPr marL="7664833" indent="-784265" algn="l" defTabSz="3135999" rtl="0" fontAlgn="base">
        <a:spcBef>
          <a:spcPct val="20000"/>
        </a:spcBef>
        <a:spcAft>
          <a:spcPct val="0"/>
        </a:spcAft>
        <a:buChar char="»"/>
        <a:defRPr sz="6867">
          <a:solidFill>
            <a:schemeClr val="tx1"/>
          </a:solidFill>
          <a:latin typeface="+mn-lt"/>
        </a:defRPr>
      </a:lvl7pPr>
      <a:lvl8pPr marL="7969648" indent="-784265" algn="l" defTabSz="3135999" rtl="0" fontAlgn="base">
        <a:spcBef>
          <a:spcPct val="20000"/>
        </a:spcBef>
        <a:spcAft>
          <a:spcPct val="0"/>
        </a:spcAft>
        <a:buChar char="»"/>
        <a:defRPr sz="6867">
          <a:solidFill>
            <a:schemeClr val="tx1"/>
          </a:solidFill>
          <a:latin typeface="+mn-lt"/>
        </a:defRPr>
      </a:lvl8pPr>
      <a:lvl9pPr marL="8274464" indent="-784265" algn="l" defTabSz="3135999" rtl="0" fontAlgn="base">
        <a:spcBef>
          <a:spcPct val="20000"/>
        </a:spcBef>
        <a:spcAft>
          <a:spcPct val="0"/>
        </a:spcAft>
        <a:buChar char="»"/>
        <a:defRPr sz="6867">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jpeg"/><Relationship Id="rId3" Type="http://schemas.openxmlformats.org/officeDocument/2006/relationships/image" Target="../media/image3.png"/><Relationship Id="rId7" Type="http://schemas.openxmlformats.org/officeDocument/2006/relationships/image" Target="../media/image7.jp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1.xml"/><Relationship Id="rId16"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eg"/><Relationship Id="rId15" Type="http://schemas.openxmlformats.org/officeDocument/2006/relationships/image" Target="../media/image15.jp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5D5CD"/>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C24D4BC5-5256-4C2E-B3FB-87EA69B63AF3}"/>
              </a:ext>
            </a:extLst>
          </p:cNvPr>
          <p:cNvSpPr/>
          <p:nvPr/>
        </p:nvSpPr>
        <p:spPr>
          <a:xfrm>
            <a:off x="531761" y="5008920"/>
            <a:ext cx="7530691" cy="9592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6400">
              <a:effectLst/>
              <a:latin typeface="+mj-lt"/>
            </a:endParaRPr>
          </a:p>
        </p:txBody>
      </p:sp>
      <p:sp>
        <p:nvSpPr>
          <p:cNvPr id="48" name="Rectangle 47">
            <a:extLst>
              <a:ext uri="{FF2B5EF4-FFF2-40B4-BE49-F238E27FC236}">
                <a16:creationId xmlns:a16="http://schemas.microsoft.com/office/drawing/2014/main" id="{D026A6A3-D6D2-4951-8B04-EF51015D25DB}"/>
              </a:ext>
            </a:extLst>
          </p:cNvPr>
          <p:cNvSpPr>
            <a:spLocks noGrp="1" noRot="1" noMove="1" noResize="1" noEditPoints="1" noAdjustHandles="1" noChangeArrowheads="1" noChangeShapeType="1"/>
          </p:cNvSpPr>
          <p:nvPr/>
        </p:nvSpPr>
        <p:spPr>
          <a:xfrm>
            <a:off x="8396689" y="5025265"/>
            <a:ext cx="16204942" cy="164631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dirty="0"/>
          </a:p>
        </p:txBody>
      </p:sp>
      <p:sp>
        <p:nvSpPr>
          <p:cNvPr id="26" name="TextBox 25">
            <a:extLst>
              <a:ext uri="{FF2B5EF4-FFF2-40B4-BE49-F238E27FC236}">
                <a16:creationId xmlns:a16="http://schemas.microsoft.com/office/drawing/2014/main" id="{3AF798F3-641B-FB9D-543B-D22BBD44E531}"/>
              </a:ext>
            </a:extLst>
          </p:cNvPr>
          <p:cNvSpPr txBox="1"/>
          <p:nvPr/>
        </p:nvSpPr>
        <p:spPr>
          <a:xfrm>
            <a:off x="8558745" y="15145721"/>
            <a:ext cx="15908999" cy="830997"/>
          </a:xfrm>
          <a:prstGeom prst="rect">
            <a:avLst/>
          </a:prstGeom>
          <a:noFill/>
        </p:spPr>
        <p:txBody>
          <a:bodyPr wrap="square" rtlCol="0">
            <a:spAutoFit/>
          </a:bodyPr>
          <a:lstStyle/>
          <a:p>
            <a:pPr algn="just"/>
            <a:r>
              <a:rPr lang="en-US" sz="1600" dirty="0">
                <a:latin typeface="Titillium Web" panose="00000500000000000000" pitchFamily="2" charset="0"/>
                <a:ea typeface="Open Sans" panose="020B0606030504020204" pitchFamily="34" charset="0"/>
                <a:cs typeface="Open Sans" panose="020B0606030504020204" pitchFamily="34" charset="0"/>
              </a:rPr>
              <a:t>Figure 3. Results of ADMIXTURE analysis showing ancestral populations for </a:t>
            </a:r>
            <a:r>
              <a:rPr lang="en-US" sz="1600" i="1" dirty="0">
                <a:latin typeface="Titillium Web" panose="00000500000000000000" pitchFamily="2" charset="0"/>
                <a:ea typeface="Open Sans" panose="020B0606030504020204" pitchFamily="34" charset="0"/>
                <a:cs typeface="Open Sans" panose="020B0606030504020204" pitchFamily="34" charset="0"/>
              </a:rPr>
              <a:t>B. decurrens</a:t>
            </a:r>
            <a:r>
              <a:rPr lang="en-US" sz="1600" dirty="0">
                <a:latin typeface="Titillium Web" panose="00000500000000000000" pitchFamily="2" charset="0"/>
                <a:ea typeface="Open Sans" panose="020B0606030504020204" pitchFamily="34" charset="0"/>
                <a:cs typeface="Open Sans" panose="020B0606030504020204" pitchFamily="34" charset="0"/>
              </a:rPr>
              <a:t>. Each line represents an individual and the colors represent the genetic groups to which the individuals are assigned. Individuals are grouped by geographic population from south to north. Number of populations defined by K = 8 (lowest CV error).</a:t>
            </a:r>
          </a:p>
          <a:p>
            <a:pPr algn="just"/>
            <a:endParaRPr lang="en-US" sz="1600" dirty="0">
              <a:latin typeface="Titillium Web" panose="00000500000000000000" pitchFamily="2" charset="0"/>
            </a:endParaRPr>
          </a:p>
        </p:txBody>
      </p:sp>
      <p:sp>
        <p:nvSpPr>
          <p:cNvPr id="51" name="Rectangle 50">
            <a:extLst>
              <a:ext uri="{FF2B5EF4-FFF2-40B4-BE49-F238E27FC236}">
                <a16:creationId xmlns:a16="http://schemas.microsoft.com/office/drawing/2014/main" id="{19BFD724-D51D-4DD6-A93A-40ABEA405C90}"/>
              </a:ext>
            </a:extLst>
          </p:cNvPr>
          <p:cNvSpPr/>
          <p:nvPr/>
        </p:nvSpPr>
        <p:spPr>
          <a:xfrm>
            <a:off x="24927387" y="5008921"/>
            <a:ext cx="7530691" cy="8462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6400" dirty="0">
              <a:effectLst/>
              <a:latin typeface="+mj-lt"/>
            </a:endParaRPr>
          </a:p>
        </p:txBody>
      </p:sp>
      <p:sp>
        <p:nvSpPr>
          <p:cNvPr id="54" name="Rectangle 53">
            <a:extLst>
              <a:ext uri="{FF2B5EF4-FFF2-40B4-BE49-F238E27FC236}">
                <a16:creationId xmlns:a16="http://schemas.microsoft.com/office/drawing/2014/main" id="{236036AE-C83F-4AC9-800C-C6574727635F}"/>
              </a:ext>
            </a:extLst>
          </p:cNvPr>
          <p:cNvSpPr/>
          <p:nvPr/>
        </p:nvSpPr>
        <p:spPr>
          <a:xfrm>
            <a:off x="531761" y="14991569"/>
            <a:ext cx="7530691" cy="64804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6400">
              <a:effectLst/>
              <a:latin typeface="+mj-lt"/>
            </a:endParaRPr>
          </a:p>
        </p:txBody>
      </p:sp>
      <p:sp>
        <p:nvSpPr>
          <p:cNvPr id="57" name="Rectangle 56">
            <a:extLst>
              <a:ext uri="{FF2B5EF4-FFF2-40B4-BE49-F238E27FC236}">
                <a16:creationId xmlns:a16="http://schemas.microsoft.com/office/drawing/2014/main" id="{65D5CB20-8752-4D75-A601-0EEB3443D27F}"/>
              </a:ext>
            </a:extLst>
          </p:cNvPr>
          <p:cNvSpPr/>
          <p:nvPr/>
        </p:nvSpPr>
        <p:spPr>
          <a:xfrm>
            <a:off x="24930509" y="17906999"/>
            <a:ext cx="7530691" cy="35559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6400">
              <a:effectLst/>
              <a:latin typeface="+mj-lt"/>
            </a:endParaRPr>
          </a:p>
        </p:txBody>
      </p:sp>
      <p:sp>
        <p:nvSpPr>
          <p:cNvPr id="58" name="TextBox 19">
            <a:extLst>
              <a:ext uri="{FF2B5EF4-FFF2-40B4-BE49-F238E27FC236}">
                <a16:creationId xmlns:a16="http://schemas.microsoft.com/office/drawing/2014/main" id="{B4F3D693-DA0F-454D-94C0-CEAA07C14AE3}"/>
              </a:ext>
            </a:extLst>
          </p:cNvPr>
          <p:cNvSpPr txBox="1">
            <a:spLocks noChangeArrowheads="1"/>
          </p:cNvSpPr>
          <p:nvPr/>
        </p:nvSpPr>
        <p:spPr bwMode="auto">
          <a:xfrm>
            <a:off x="24989288" y="18434325"/>
            <a:ext cx="7218408" cy="2831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r>
              <a:rPr lang="en-US" sz="2000" dirty="0">
                <a:effectLst/>
                <a:latin typeface="Titillium Web" panose="00000500000000000000" pitchFamily="2" charset="0"/>
                <a:cs typeface="Calibri" panose="020F0502020204030204" pitchFamily="34" charset="0"/>
              </a:rPr>
              <a:t>Funding provided by the 2025 REU program (NSF-DBI-2243824) and the IMLS (</a:t>
            </a:r>
            <a:r>
              <a:rPr lang="en-US" sz="2000" b="0" i="0" dirty="0">
                <a:effectLst/>
                <a:latin typeface="Titillium Web" panose="00000500000000000000" pitchFamily="2" charset="0"/>
                <a:cs typeface="Calibri" panose="020F0502020204030204" pitchFamily="34" charset="0"/>
              </a:rPr>
              <a:t>MG-253252-OMS-23)</a:t>
            </a:r>
            <a:r>
              <a:rPr lang="en-US" sz="2000" dirty="0">
                <a:effectLst/>
                <a:latin typeface="Titillium Web" panose="00000500000000000000" pitchFamily="2" charset="0"/>
                <a:cs typeface="Calibri" panose="020F0502020204030204" pitchFamily="34" charset="0"/>
              </a:rPr>
              <a:t>.</a:t>
            </a:r>
          </a:p>
          <a:p>
            <a:r>
              <a:rPr lang="en-US" sz="1000" dirty="0">
                <a:effectLst/>
                <a:latin typeface="Titillium Web" panose="00000500000000000000" pitchFamily="2" charset="0"/>
              </a:rPr>
              <a:t>   </a:t>
            </a:r>
            <a:br>
              <a:rPr lang="en-US" sz="2000" dirty="0">
                <a:effectLst/>
                <a:latin typeface="Titillium Web" panose="00000500000000000000" pitchFamily="2" charset="0"/>
              </a:rPr>
            </a:br>
            <a:r>
              <a:rPr lang="en-US" sz="2000" dirty="0">
                <a:effectLst/>
                <a:latin typeface="Titillium Web" panose="00000500000000000000" pitchFamily="2" charset="0"/>
              </a:rPr>
              <a:t>Thanks to members of the Conservation Genetics Lab at MBG for sample collection, and Megan Connor for support with analysis.</a:t>
            </a:r>
          </a:p>
          <a:p>
            <a:r>
              <a:rPr lang="en-US" sz="1000" dirty="0">
                <a:effectLst/>
                <a:latin typeface="Titillium Web" panose="00000500000000000000" pitchFamily="2" charset="0"/>
              </a:rPr>
              <a:t>   </a:t>
            </a:r>
            <a:br>
              <a:rPr lang="en-US" sz="2000" dirty="0">
                <a:effectLst/>
                <a:latin typeface="Titillium Web" panose="00000500000000000000" pitchFamily="2" charset="0"/>
              </a:rPr>
            </a:br>
            <a:r>
              <a:rPr lang="en-US" sz="2000" dirty="0">
                <a:effectLst/>
                <a:latin typeface="Titillium Web" panose="00000500000000000000" pitchFamily="2" charset="0"/>
              </a:rPr>
              <a:t>Special thanks to Mónica Carlsen-Krause and </a:t>
            </a:r>
          </a:p>
          <a:p>
            <a:r>
              <a:rPr lang="en-US" sz="2000" dirty="0">
                <a:effectLst/>
                <a:latin typeface="Titillium Web" panose="00000500000000000000" pitchFamily="2" charset="0"/>
              </a:rPr>
              <a:t>Wendy Applequist </a:t>
            </a:r>
          </a:p>
          <a:p>
            <a:r>
              <a:rPr lang="en-US" sz="2000" dirty="0">
                <a:effectLst/>
                <a:latin typeface="Titillium Web" panose="00000500000000000000" pitchFamily="2" charset="0"/>
              </a:rPr>
              <a:t>for program </a:t>
            </a:r>
          </a:p>
          <a:p>
            <a:r>
              <a:rPr lang="en-US" sz="2000" dirty="0">
                <a:effectLst/>
                <a:latin typeface="Titillium Web" panose="00000500000000000000" pitchFamily="2" charset="0"/>
              </a:rPr>
              <a:t>coordination.</a:t>
            </a:r>
            <a:endParaRPr lang="en-US" sz="2000" dirty="0">
              <a:effectLst/>
              <a:latin typeface="Titillium Web" panose="00000500000000000000" pitchFamily="2" charset="0"/>
              <a:ea typeface="Open Sans" panose="020B0606030504020204" pitchFamily="34" charset="0"/>
              <a:cs typeface="Open Sans" panose="020B0606030504020204" pitchFamily="34" charset="0"/>
            </a:endParaRPr>
          </a:p>
        </p:txBody>
      </p:sp>
      <p:sp>
        <p:nvSpPr>
          <p:cNvPr id="44" name="Rectangle 43">
            <a:extLst>
              <a:ext uri="{FF2B5EF4-FFF2-40B4-BE49-F238E27FC236}">
                <a16:creationId xmlns:a16="http://schemas.microsoft.com/office/drawing/2014/main" id="{4EDA12B6-07B5-44F9-8F8B-E1BE66469DB6}"/>
              </a:ext>
            </a:extLst>
          </p:cNvPr>
          <p:cNvSpPr>
            <a:spLocks noChangeArrowheads="1"/>
          </p:cNvSpPr>
          <p:nvPr/>
        </p:nvSpPr>
        <p:spPr bwMode="auto">
          <a:xfrm>
            <a:off x="531761" y="4567316"/>
            <a:ext cx="7530691" cy="594360"/>
          </a:xfrm>
          <a:prstGeom prst="rect">
            <a:avLst/>
          </a:prstGeom>
          <a:solidFill>
            <a:srgbClr val="03AD80"/>
          </a:solidFill>
          <a:ln w="12700">
            <a:noFill/>
            <a:miter lim="800000"/>
          </a:ln>
        </p:spPr>
        <p:txBody>
          <a:bodyPr wrap="none" lIns="182880" tIns="0" rIns="182880" bIns="45720"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3135215">
              <a:defRPr/>
            </a:pPr>
            <a:r>
              <a:rPr lang="en-US" sz="3600" dirty="0">
                <a:solidFill>
                  <a:schemeClr val="bg1"/>
                </a:solidFill>
                <a:effectLst/>
                <a:cs typeface="Times New Roman" panose="02020603050405020304" pitchFamily="18" charset="0"/>
              </a:rPr>
              <a:t>Introduction</a:t>
            </a:r>
          </a:p>
        </p:txBody>
      </p:sp>
      <p:sp>
        <p:nvSpPr>
          <p:cNvPr id="56" name="Rectangle 55">
            <a:extLst>
              <a:ext uri="{FF2B5EF4-FFF2-40B4-BE49-F238E27FC236}">
                <a16:creationId xmlns:a16="http://schemas.microsoft.com/office/drawing/2014/main" id="{8C463412-CC68-4A0F-AE72-68EF99EB2F46}"/>
              </a:ext>
            </a:extLst>
          </p:cNvPr>
          <p:cNvSpPr>
            <a:spLocks noChangeArrowheads="1"/>
          </p:cNvSpPr>
          <p:nvPr/>
        </p:nvSpPr>
        <p:spPr bwMode="auto">
          <a:xfrm>
            <a:off x="531761" y="14930918"/>
            <a:ext cx="7530691" cy="594360"/>
          </a:xfrm>
          <a:prstGeom prst="rect">
            <a:avLst/>
          </a:prstGeom>
          <a:solidFill>
            <a:srgbClr val="03AD80"/>
          </a:solidFill>
          <a:ln w="12700">
            <a:noFill/>
            <a:miter lim="800000"/>
          </a:ln>
        </p:spPr>
        <p:txBody>
          <a:bodyPr wrap="none" lIns="182880" tIns="0" rIns="182880" bIns="45720"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3135215">
              <a:defRPr/>
            </a:pPr>
            <a:r>
              <a:rPr lang="en-US" sz="3600" dirty="0">
                <a:solidFill>
                  <a:schemeClr val="bg1"/>
                </a:solidFill>
                <a:effectLst/>
                <a:cs typeface="Times New Roman" panose="02020603050405020304" pitchFamily="18" charset="0"/>
              </a:rPr>
              <a:t>Materials / Methods</a:t>
            </a:r>
          </a:p>
        </p:txBody>
      </p:sp>
      <p:sp>
        <p:nvSpPr>
          <p:cNvPr id="50" name="Rectangle 49">
            <a:extLst>
              <a:ext uri="{FF2B5EF4-FFF2-40B4-BE49-F238E27FC236}">
                <a16:creationId xmlns:a16="http://schemas.microsoft.com/office/drawing/2014/main" id="{3D96BB99-3F6E-4E73-BA6B-A122D83B12A2}"/>
              </a:ext>
            </a:extLst>
          </p:cNvPr>
          <p:cNvSpPr>
            <a:spLocks noChangeArrowheads="1"/>
          </p:cNvSpPr>
          <p:nvPr/>
        </p:nvSpPr>
        <p:spPr bwMode="auto">
          <a:xfrm>
            <a:off x="8396690" y="4567316"/>
            <a:ext cx="16204942" cy="594360"/>
          </a:xfrm>
          <a:prstGeom prst="rect">
            <a:avLst/>
          </a:prstGeom>
          <a:solidFill>
            <a:srgbClr val="03AD80"/>
          </a:solidFill>
          <a:ln w="12700">
            <a:noFill/>
            <a:miter lim="800000"/>
          </a:ln>
        </p:spPr>
        <p:txBody>
          <a:bodyPr wrap="none" lIns="182880" tIns="0" rIns="182880" bIns="45720"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3135215">
              <a:defRPr/>
            </a:pPr>
            <a:r>
              <a:rPr lang="en-US" sz="3600" dirty="0">
                <a:solidFill>
                  <a:schemeClr val="bg1"/>
                </a:solidFill>
                <a:effectLst/>
                <a:cs typeface="Times New Roman" panose="02020603050405020304" pitchFamily="18" charset="0"/>
              </a:rPr>
              <a:t>Results</a:t>
            </a:r>
          </a:p>
        </p:txBody>
      </p:sp>
      <p:sp>
        <p:nvSpPr>
          <p:cNvPr id="53" name="Rectangle 52">
            <a:extLst>
              <a:ext uri="{FF2B5EF4-FFF2-40B4-BE49-F238E27FC236}">
                <a16:creationId xmlns:a16="http://schemas.microsoft.com/office/drawing/2014/main" id="{0BE282AE-183A-4D49-B152-23A5A101BEA6}"/>
              </a:ext>
            </a:extLst>
          </p:cNvPr>
          <p:cNvSpPr>
            <a:spLocks noChangeArrowheads="1"/>
          </p:cNvSpPr>
          <p:nvPr/>
        </p:nvSpPr>
        <p:spPr bwMode="auto">
          <a:xfrm>
            <a:off x="24917400" y="4567316"/>
            <a:ext cx="7537396" cy="594360"/>
          </a:xfrm>
          <a:prstGeom prst="rect">
            <a:avLst/>
          </a:prstGeom>
          <a:solidFill>
            <a:srgbClr val="03AD80"/>
          </a:solidFill>
          <a:ln w="12700">
            <a:noFill/>
            <a:miter lim="800000"/>
          </a:ln>
        </p:spPr>
        <p:txBody>
          <a:bodyPr wrap="none" lIns="182880" tIns="0" rIns="182880" bIns="45720"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3135215">
              <a:defRPr/>
            </a:pPr>
            <a:r>
              <a:rPr lang="en-US" sz="3600" dirty="0">
                <a:solidFill>
                  <a:schemeClr val="bg1"/>
                </a:solidFill>
                <a:effectLst/>
                <a:cs typeface="Times New Roman" panose="02020603050405020304" pitchFamily="18" charset="0"/>
              </a:rPr>
              <a:t>Discussion</a:t>
            </a:r>
          </a:p>
        </p:txBody>
      </p:sp>
      <p:sp>
        <p:nvSpPr>
          <p:cNvPr id="59" name="Rectangle 58">
            <a:extLst>
              <a:ext uri="{FF2B5EF4-FFF2-40B4-BE49-F238E27FC236}">
                <a16:creationId xmlns:a16="http://schemas.microsoft.com/office/drawing/2014/main" id="{5EDC1F28-88BB-4DAD-9112-B4904B4A7E46}"/>
              </a:ext>
            </a:extLst>
          </p:cNvPr>
          <p:cNvSpPr>
            <a:spLocks noChangeArrowheads="1"/>
          </p:cNvSpPr>
          <p:nvPr/>
        </p:nvSpPr>
        <p:spPr bwMode="auto">
          <a:xfrm>
            <a:off x="24930509" y="17826228"/>
            <a:ext cx="7530691" cy="594360"/>
          </a:xfrm>
          <a:prstGeom prst="rect">
            <a:avLst/>
          </a:prstGeom>
          <a:solidFill>
            <a:srgbClr val="03AD80"/>
          </a:solidFill>
          <a:ln w="12700">
            <a:noFill/>
            <a:miter lim="800000"/>
          </a:ln>
        </p:spPr>
        <p:txBody>
          <a:bodyPr wrap="none" lIns="182880" tIns="0" rIns="182880" bIns="45720"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3135215">
              <a:defRPr/>
            </a:pPr>
            <a:r>
              <a:rPr lang="en-US" sz="3600" dirty="0">
                <a:solidFill>
                  <a:schemeClr val="bg1"/>
                </a:solidFill>
                <a:effectLst/>
                <a:cs typeface="Times New Roman" panose="02020603050405020304" pitchFamily="18" charset="0"/>
              </a:rPr>
              <a:t>Acknowledgements</a:t>
            </a:r>
          </a:p>
        </p:txBody>
      </p:sp>
      <p:sp>
        <p:nvSpPr>
          <p:cNvPr id="38" name="Text Box 6">
            <a:extLst>
              <a:ext uri="{FF2B5EF4-FFF2-40B4-BE49-F238E27FC236}">
                <a16:creationId xmlns:a16="http://schemas.microsoft.com/office/drawing/2014/main" id="{58B3357B-4821-4FA8-8444-207C696AAAD4}"/>
              </a:ext>
            </a:extLst>
          </p:cNvPr>
          <p:cNvSpPr txBox="1">
            <a:spLocks noChangeArrowheads="1"/>
          </p:cNvSpPr>
          <p:nvPr/>
        </p:nvSpPr>
        <p:spPr bwMode="auto">
          <a:xfrm>
            <a:off x="560768" y="5188029"/>
            <a:ext cx="7524464" cy="68634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200" b="1" i="1" dirty="0">
                <a:latin typeface="Titillium Web" panose="00000500000000000000" pitchFamily="2" charset="0"/>
              </a:rPr>
              <a:t>Boltonia decurrens</a:t>
            </a:r>
            <a:r>
              <a:rPr lang="en-US" sz="2200" b="1" dirty="0">
                <a:latin typeface="Titillium Web" panose="00000500000000000000" pitchFamily="2" charset="0"/>
              </a:rPr>
              <a:t> (Asteraceae) </a:t>
            </a:r>
            <a:r>
              <a:rPr lang="en-US" sz="2200" dirty="0">
                <a:latin typeface="Titillium Web" panose="00000500000000000000" pitchFamily="2" charset="0"/>
              </a:rPr>
              <a:t>is a </a:t>
            </a:r>
          </a:p>
          <a:p>
            <a:r>
              <a:rPr lang="en-US" sz="2200" dirty="0">
                <a:latin typeface="Titillium Web" panose="00000500000000000000" pitchFamily="2" charset="0"/>
              </a:rPr>
              <a:t>federally threatened species endemic to </a:t>
            </a:r>
          </a:p>
          <a:p>
            <a:r>
              <a:rPr lang="en-US" sz="2200" dirty="0">
                <a:latin typeface="Titillium Web" panose="00000500000000000000" pitchFamily="2" charset="0"/>
              </a:rPr>
              <a:t>floodplains along the Illinois River. As an </a:t>
            </a:r>
          </a:p>
          <a:p>
            <a:r>
              <a:rPr lang="en-US" sz="2200" u="sng" dirty="0">
                <a:latin typeface="Titillium Web" panose="00000500000000000000" pitchFamily="2" charset="0"/>
              </a:rPr>
              <a:t>early-successional species</a:t>
            </a:r>
            <a:r>
              <a:rPr lang="en-US" sz="2200" dirty="0">
                <a:latin typeface="Titillium Web" panose="00000500000000000000" pitchFamily="2" charset="0"/>
              </a:rPr>
              <a:t>, it depends on </a:t>
            </a:r>
          </a:p>
          <a:p>
            <a:r>
              <a:rPr lang="en-US" sz="2200" dirty="0">
                <a:latin typeface="Titillium Web" panose="00000500000000000000" pitchFamily="2" charset="0"/>
              </a:rPr>
              <a:t>periodic flooding to create open, sandy, </a:t>
            </a:r>
          </a:p>
          <a:p>
            <a:r>
              <a:rPr lang="en-US" sz="2200" dirty="0">
                <a:latin typeface="Titillium Web" panose="00000500000000000000" pitchFamily="2" charset="0"/>
              </a:rPr>
              <a:t>saturated habitats for germination, with </a:t>
            </a:r>
          </a:p>
          <a:p>
            <a:r>
              <a:rPr lang="en-US" sz="2200" u="sng" dirty="0">
                <a:latin typeface="Titillium Web" panose="00000500000000000000" pitchFamily="2" charset="0"/>
              </a:rPr>
              <a:t>seeds dispersed by the river</a:t>
            </a:r>
            <a:r>
              <a:rPr lang="en-US" sz="2200" dirty="0">
                <a:latin typeface="Titillium Web" panose="00000500000000000000" pitchFamily="2" charset="0"/>
              </a:rPr>
              <a:t>. In the absence </a:t>
            </a:r>
          </a:p>
          <a:p>
            <a:r>
              <a:rPr lang="en-US" sz="2200" dirty="0">
                <a:latin typeface="Titillium Web" panose="00000500000000000000" pitchFamily="2" charset="0"/>
              </a:rPr>
              <a:t>of disturbance, suitable habitat can quickly </a:t>
            </a:r>
          </a:p>
          <a:p>
            <a:r>
              <a:rPr lang="en-US" sz="2200" dirty="0">
                <a:latin typeface="Titillium Web" panose="00000500000000000000" pitchFamily="2" charset="0"/>
              </a:rPr>
              <a:t>disappear, leading to </a:t>
            </a:r>
            <a:r>
              <a:rPr lang="en-US" sz="2200" u="sng" dirty="0">
                <a:latin typeface="Titillium Web" panose="00000500000000000000" pitchFamily="2" charset="0"/>
              </a:rPr>
              <a:t>local extinction within 3–5 years</a:t>
            </a:r>
            <a:r>
              <a:rPr lang="en-US" sz="2200" dirty="0">
                <a:latin typeface="Titillium Web" panose="00000500000000000000" pitchFamily="2" charset="0"/>
              </a:rPr>
              <a:t>. </a:t>
            </a:r>
          </a:p>
          <a:p>
            <a:endParaRPr lang="en-US" sz="800" dirty="0">
              <a:latin typeface="Titillium Web" panose="00000500000000000000" pitchFamily="2" charset="0"/>
            </a:endParaRPr>
          </a:p>
          <a:p>
            <a:r>
              <a:rPr lang="en-US" sz="2200" dirty="0">
                <a:latin typeface="Titillium Web" panose="00000500000000000000" pitchFamily="2" charset="0"/>
              </a:rPr>
              <a:t>Major threats include </a:t>
            </a:r>
            <a:r>
              <a:rPr lang="en-US" sz="2200" u="sng" dirty="0">
                <a:latin typeface="Titillium Web" panose="00000500000000000000" pitchFamily="2" charset="0"/>
              </a:rPr>
              <a:t>habitat loss from urban development, agriculture, and flood control</a:t>
            </a:r>
            <a:r>
              <a:rPr lang="en-US" sz="2200" dirty="0">
                <a:latin typeface="Titillium Web" panose="00000500000000000000" pitchFamily="2" charset="0"/>
              </a:rPr>
              <a:t>. Limited pollinator movement between small, isolated populations suggests that seed dispersal is the primary driver of gene flow. </a:t>
            </a:r>
            <a:r>
              <a:rPr lang="en-US" sz="2200" i="1" dirty="0">
                <a:latin typeface="Titillium Web" panose="00000500000000000000" pitchFamily="2" charset="0"/>
              </a:rPr>
              <a:t>B. decurrens</a:t>
            </a:r>
            <a:r>
              <a:rPr lang="en-US" sz="2200" dirty="0">
                <a:latin typeface="Titillium Web" panose="00000500000000000000" pitchFamily="2" charset="0"/>
              </a:rPr>
              <a:t> also co-occurs with </a:t>
            </a:r>
            <a:r>
              <a:rPr lang="en-US" sz="2200" i="1" dirty="0">
                <a:latin typeface="Titillium Web" panose="00000500000000000000" pitchFamily="2" charset="0"/>
              </a:rPr>
              <a:t>B. </a:t>
            </a:r>
            <a:r>
              <a:rPr lang="en-US" sz="2200" i="1" dirty="0" err="1">
                <a:latin typeface="Titillium Web" panose="00000500000000000000" pitchFamily="2" charset="0"/>
              </a:rPr>
              <a:t>asteroides</a:t>
            </a:r>
            <a:r>
              <a:rPr lang="en-US" sz="2200" dirty="0">
                <a:latin typeface="Titillium Web" panose="00000500000000000000" pitchFamily="2" charset="0"/>
              </a:rPr>
              <a:t>, with a previous study (DeWoody, 2011) finding minor hybridization. This raises concerns about hybridization in our dataset. </a:t>
            </a:r>
          </a:p>
          <a:p>
            <a:endParaRPr lang="en-US" sz="800" dirty="0">
              <a:latin typeface="Titillium Web" panose="00000500000000000000" pitchFamily="2" charset="0"/>
            </a:endParaRPr>
          </a:p>
          <a:p>
            <a:r>
              <a:rPr lang="en-US" sz="2200" b="1" dirty="0">
                <a:latin typeface="Titillium Web" panose="00000500000000000000" pitchFamily="2" charset="0"/>
              </a:rPr>
              <a:t>In this study, we assess 1) species boundaries, 2) genetic structure, and 3) local adaptation to evaluate species vulnerability and inform conservation efforts.</a:t>
            </a:r>
          </a:p>
        </p:txBody>
      </p:sp>
      <p:sp>
        <p:nvSpPr>
          <p:cNvPr id="39" name="Text Box 6">
            <a:extLst>
              <a:ext uri="{FF2B5EF4-FFF2-40B4-BE49-F238E27FC236}">
                <a16:creationId xmlns:a16="http://schemas.microsoft.com/office/drawing/2014/main" id="{1B3DAFDC-3567-41A6-899A-8D92E3BE5771}"/>
              </a:ext>
            </a:extLst>
          </p:cNvPr>
          <p:cNvSpPr txBox="1">
            <a:spLocks noChangeArrowheads="1"/>
          </p:cNvSpPr>
          <p:nvPr/>
        </p:nvSpPr>
        <p:spPr bwMode="auto">
          <a:xfrm>
            <a:off x="586991" y="15468493"/>
            <a:ext cx="7366149" cy="62478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marL="342900" indent="-342900">
              <a:buFont typeface="Arial" panose="020B0604020202020204" pitchFamily="34" charset="0"/>
              <a:buChar char="•"/>
            </a:pPr>
            <a:r>
              <a:rPr lang="en-US" sz="2000" b="1" dirty="0">
                <a:latin typeface="Titillium Web" panose="00000500000000000000" pitchFamily="2" charset="0"/>
              </a:rPr>
              <a:t>Sample Collection</a:t>
            </a:r>
            <a:br>
              <a:rPr lang="en-US" sz="2000" dirty="0">
                <a:latin typeface="Titillium Web" panose="00000500000000000000" pitchFamily="2" charset="0"/>
              </a:rPr>
            </a:br>
            <a:r>
              <a:rPr lang="en-US" sz="2000" dirty="0">
                <a:latin typeface="Titillium Web" panose="00000500000000000000" pitchFamily="2" charset="0"/>
              </a:rPr>
              <a:t>468 seeds collected from 18 wild </a:t>
            </a:r>
            <a:r>
              <a:rPr lang="en-US" sz="2000" i="1" dirty="0">
                <a:latin typeface="Titillium Web" panose="00000500000000000000" pitchFamily="2" charset="0"/>
              </a:rPr>
              <a:t>B. decurrens</a:t>
            </a:r>
            <a:r>
              <a:rPr lang="en-US" sz="2000" dirty="0">
                <a:latin typeface="Titillium Web" panose="00000500000000000000" pitchFamily="2" charset="0"/>
              </a:rPr>
              <a:t> populations were germinated and grown in controlled conditions. Outgroup samples came from herbarium specimens at the Missouri Botanical Garden.</a:t>
            </a:r>
          </a:p>
          <a:p>
            <a:endParaRPr lang="en-US" sz="1000" dirty="0">
              <a:latin typeface="Titillium Web" panose="00000500000000000000" pitchFamily="2" charset="0"/>
            </a:endParaRPr>
          </a:p>
          <a:p>
            <a:pPr marL="342900" indent="-342900">
              <a:buFont typeface="Arial" panose="020B0604020202020204" pitchFamily="34" charset="0"/>
              <a:buChar char="•"/>
            </a:pPr>
            <a:r>
              <a:rPr lang="en-US" sz="2000" b="1" dirty="0">
                <a:latin typeface="Titillium Web" panose="00000500000000000000" pitchFamily="2" charset="0"/>
              </a:rPr>
              <a:t>DNA Processing</a:t>
            </a:r>
            <a:br>
              <a:rPr lang="en-US" sz="2000" dirty="0">
                <a:latin typeface="Titillium Web" panose="00000500000000000000" pitchFamily="2" charset="0"/>
              </a:rPr>
            </a:br>
            <a:r>
              <a:rPr lang="en-US" sz="2000" dirty="0">
                <a:latin typeface="Titillium Web" panose="00000500000000000000" pitchFamily="2" charset="0"/>
              </a:rPr>
              <a:t>We extracted DNA, conducted whole genome sequencing on 448 samples using </a:t>
            </a:r>
            <a:r>
              <a:rPr lang="en-US" sz="2000" dirty="0" err="1">
                <a:latin typeface="Titillium Web" panose="00000500000000000000" pitchFamily="2" charset="0"/>
              </a:rPr>
              <a:t>NEBnext</a:t>
            </a:r>
            <a:r>
              <a:rPr lang="en-US" sz="2000" dirty="0">
                <a:latin typeface="Titillium Web" panose="00000500000000000000" pitchFamily="2" charset="0"/>
              </a:rPr>
              <a:t> Ultra FS II kits with Illumina </a:t>
            </a:r>
            <a:r>
              <a:rPr lang="en-US" sz="2000" dirty="0" err="1">
                <a:latin typeface="Titillium Web" panose="00000500000000000000" pitchFamily="2" charset="0"/>
              </a:rPr>
              <a:t>NovaSeq</a:t>
            </a:r>
            <a:r>
              <a:rPr lang="en-US" sz="2000" dirty="0">
                <a:latin typeface="Titillium Web" panose="00000500000000000000" pitchFamily="2" charset="0"/>
              </a:rPr>
              <a:t> sequencing, and filtered for high-quality SNPs.</a:t>
            </a:r>
          </a:p>
          <a:p>
            <a:endParaRPr lang="en-US" sz="1000" dirty="0">
              <a:latin typeface="Titillium Web" panose="00000500000000000000" pitchFamily="2" charset="0"/>
            </a:endParaRPr>
          </a:p>
          <a:p>
            <a:pPr marL="342900" indent="-342900">
              <a:buFont typeface="Arial" panose="020B0604020202020204" pitchFamily="34" charset="0"/>
              <a:buChar char="•"/>
            </a:pPr>
            <a:r>
              <a:rPr lang="en-US" sz="2000" b="1" dirty="0">
                <a:latin typeface="Titillium Web" panose="00000500000000000000" pitchFamily="2" charset="0"/>
              </a:rPr>
              <a:t>Population Structure &amp; Hybridization</a:t>
            </a:r>
            <a:br>
              <a:rPr lang="en-US" sz="2000" dirty="0">
                <a:latin typeface="Titillium Web" panose="00000500000000000000" pitchFamily="2" charset="0"/>
              </a:rPr>
            </a:br>
            <a:r>
              <a:rPr lang="en-US" sz="2000" dirty="0">
                <a:latin typeface="Titillium Web" panose="00000500000000000000" pitchFamily="2" charset="0"/>
              </a:rPr>
              <a:t>Analyzed with PCA, ADMIXTURE, and phylogenetic trees.</a:t>
            </a:r>
          </a:p>
          <a:p>
            <a:endParaRPr lang="en-US" sz="1000" dirty="0">
              <a:latin typeface="Titillium Web" panose="00000500000000000000" pitchFamily="2" charset="0"/>
            </a:endParaRPr>
          </a:p>
          <a:p>
            <a:pPr marL="342900" indent="-342900">
              <a:buFont typeface="Arial" panose="020B0604020202020204" pitchFamily="34" charset="0"/>
              <a:buChar char="•"/>
            </a:pPr>
            <a:r>
              <a:rPr lang="en-US" sz="2000" b="1" dirty="0">
                <a:latin typeface="Titillium Web" panose="00000500000000000000" pitchFamily="2" charset="0"/>
              </a:rPr>
              <a:t>Genetic Differentiation</a:t>
            </a:r>
            <a:br>
              <a:rPr lang="en-US" sz="2000" dirty="0">
                <a:latin typeface="Titillium Web" panose="00000500000000000000" pitchFamily="2" charset="0"/>
              </a:rPr>
            </a:br>
            <a:r>
              <a:rPr lang="en-US" sz="2000" dirty="0">
                <a:latin typeface="Titillium Web" panose="00000500000000000000" pitchFamily="2" charset="0"/>
              </a:rPr>
              <a:t>We assessed pairwise F</a:t>
            </a:r>
            <a:r>
              <a:rPr lang="en-US" sz="2000" baseline="-25000" dirty="0">
                <a:latin typeface="Titillium Web" panose="00000500000000000000" pitchFamily="2" charset="0"/>
              </a:rPr>
              <a:t>ST</a:t>
            </a:r>
            <a:r>
              <a:rPr lang="en-US" sz="2000" dirty="0">
                <a:latin typeface="Titillium Web" panose="00000500000000000000" pitchFamily="2" charset="0"/>
              </a:rPr>
              <a:t> and isolation-by-distance patterns.</a:t>
            </a:r>
          </a:p>
          <a:p>
            <a:endParaRPr lang="en-US" sz="1000" dirty="0">
              <a:latin typeface="Titillium Web" panose="00000500000000000000" pitchFamily="2" charset="0"/>
            </a:endParaRPr>
          </a:p>
          <a:p>
            <a:pPr marL="342900" indent="-342900">
              <a:buFont typeface="Arial" panose="020B0604020202020204" pitchFamily="34" charset="0"/>
              <a:buChar char="•"/>
            </a:pPr>
            <a:r>
              <a:rPr lang="en-US" sz="2000" b="1" dirty="0">
                <a:latin typeface="Titillium Web" panose="00000500000000000000" pitchFamily="2" charset="0"/>
              </a:rPr>
              <a:t>Adaptive Variation</a:t>
            </a:r>
            <a:br>
              <a:rPr lang="en-US" sz="2000" dirty="0">
                <a:latin typeface="Titillium Web" panose="00000500000000000000" pitchFamily="2" charset="0"/>
              </a:rPr>
            </a:br>
            <a:r>
              <a:rPr lang="en-US" sz="2000" dirty="0">
                <a:latin typeface="Titillium Web" panose="00000500000000000000" pitchFamily="2" charset="0"/>
              </a:rPr>
              <a:t>Tested using isolation-by-environment, LFMM, and </a:t>
            </a:r>
            <a:r>
              <a:rPr lang="en-US" sz="2000" dirty="0" err="1">
                <a:latin typeface="Titillium Web" panose="00000500000000000000" pitchFamily="2" charset="0"/>
              </a:rPr>
              <a:t>PCAdapt</a:t>
            </a:r>
            <a:r>
              <a:rPr lang="en-US" sz="2000" dirty="0">
                <a:latin typeface="Titillium Web" panose="00000500000000000000" pitchFamily="2" charset="0"/>
              </a:rPr>
              <a:t>.</a:t>
            </a:r>
          </a:p>
          <a:p>
            <a:endParaRPr lang="en-US" sz="1000" dirty="0">
              <a:latin typeface="Titillium Web" panose="00000500000000000000" pitchFamily="2" charset="0"/>
            </a:endParaRPr>
          </a:p>
          <a:p>
            <a:pPr marL="342900" indent="-342900">
              <a:buFont typeface="Arial" panose="020B0604020202020204" pitchFamily="34" charset="0"/>
              <a:buChar char="•"/>
            </a:pPr>
            <a:r>
              <a:rPr lang="en-US" sz="2000" b="1" dirty="0">
                <a:latin typeface="Titillium Web" panose="00000500000000000000" pitchFamily="2" charset="0"/>
              </a:rPr>
              <a:t>Data Analysis &amp; Visualization</a:t>
            </a:r>
            <a:br>
              <a:rPr lang="en-US" sz="2000" dirty="0">
                <a:latin typeface="Titillium Web" panose="00000500000000000000" pitchFamily="2" charset="0"/>
              </a:rPr>
            </a:br>
            <a:r>
              <a:rPr lang="en-US" sz="2000" dirty="0">
                <a:latin typeface="Titillium Web" panose="00000500000000000000" pitchFamily="2" charset="0"/>
              </a:rPr>
              <a:t>Performed in R and genetic analysis software.</a:t>
            </a:r>
          </a:p>
        </p:txBody>
      </p:sp>
      <p:pic>
        <p:nvPicPr>
          <p:cNvPr id="5" name="Picture 4" descr="A logo of a globe with a gold circle around it&#10;&#10;AI-generated content may be incorrect.">
            <a:extLst>
              <a:ext uri="{FF2B5EF4-FFF2-40B4-BE49-F238E27FC236}">
                <a16:creationId xmlns:a16="http://schemas.microsoft.com/office/drawing/2014/main" id="{7F34FF9C-9EB3-0A84-3798-28324730F4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738391" y="19824871"/>
            <a:ext cx="1570085" cy="1570085"/>
          </a:xfrm>
          <a:prstGeom prst="rect">
            <a:avLst/>
          </a:prstGeom>
        </p:spPr>
      </p:pic>
      <p:pic>
        <p:nvPicPr>
          <p:cNvPr id="4" name="Picture 3" descr="A graph with black dots and a blue line&#10;&#10;AI-generated content may be incorrect.">
            <a:extLst>
              <a:ext uri="{FF2B5EF4-FFF2-40B4-BE49-F238E27FC236}">
                <a16:creationId xmlns:a16="http://schemas.microsoft.com/office/drawing/2014/main" id="{02700928-5199-D04E-76DB-F04F5AFF41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46465" y="15841583"/>
            <a:ext cx="6355205" cy="4785684"/>
          </a:xfrm>
          <a:prstGeom prst="rect">
            <a:avLst/>
          </a:prstGeom>
          <a:ln>
            <a:solidFill>
              <a:srgbClr val="03AD80"/>
            </a:solidFill>
          </a:ln>
          <a:effectLst/>
        </p:spPr>
      </p:pic>
      <p:pic>
        <p:nvPicPr>
          <p:cNvPr id="6" name="Picture 5" descr="Close up of a green leaf&#10;&#10;AI-generated content may be incorrect.">
            <a:extLst>
              <a:ext uri="{FF2B5EF4-FFF2-40B4-BE49-F238E27FC236}">
                <a16:creationId xmlns:a16="http://schemas.microsoft.com/office/drawing/2014/main" id="{3469BA5A-C44D-9B12-FD23-A72B9796C2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5400000">
            <a:off x="96250" y="12388575"/>
            <a:ext cx="2641634" cy="1761089"/>
          </a:xfrm>
          <a:prstGeom prst="rect">
            <a:avLst/>
          </a:prstGeom>
          <a:effectLst>
            <a:softEdge rad="31750"/>
          </a:effectLst>
        </p:spPr>
      </p:pic>
      <p:sp>
        <p:nvSpPr>
          <p:cNvPr id="8" name="Oval 7">
            <a:extLst>
              <a:ext uri="{FF2B5EF4-FFF2-40B4-BE49-F238E27FC236}">
                <a16:creationId xmlns:a16="http://schemas.microsoft.com/office/drawing/2014/main" id="{F93597C6-12CC-F30B-A54D-D43EF12A056D}"/>
              </a:ext>
            </a:extLst>
          </p:cNvPr>
          <p:cNvSpPr/>
          <p:nvPr/>
        </p:nvSpPr>
        <p:spPr>
          <a:xfrm rot="799564">
            <a:off x="1237830" y="12822666"/>
            <a:ext cx="480279" cy="947561"/>
          </a:xfrm>
          <a:prstGeom prst="ellipse">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49407C7B-EF59-496D-6BAD-E3FE05D01B33}"/>
              </a:ext>
            </a:extLst>
          </p:cNvPr>
          <p:cNvPicPr>
            <a:picLocks noChangeAspect="1"/>
          </p:cNvPicPr>
          <p:nvPr/>
        </p:nvPicPr>
        <p:blipFill>
          <a:blip r:embed="rId6" cstate="print">
            <a:extLst>
              <a:ext uri="{28A0092B-C50C-407E-A947-70E740481C1C}">
                <a14:useLocalDpi xmlns:a14="http://schemas.microsoft.com/office/drawing/2010/main" val="0"/>
              </a:ext>
            </a:extLst>
          </a:blip>
          <a:srcRect l="8523" t="16556" r="12634" b="4600"/>
          <a:stretch>
            <a:fillRect/>
          </a:stretch>
        </p:blipFill>
        <p:spPr>
          <a:xfrm rot="16200000">
            <a:off x="5865856" y="12390939"/>
            <a:ext cx="2641632" cy="1761088"/>
          </a:xfrm>
          <a:prstGeom prst="rect">
            <a:avLst/>
          </a:prstGeom>
          <a:effectLst>
            <a:softEdge rad="31750"/>
          </a:effectLst>
        </p:spPr>
      </p:pic>
      <p:sp>
        <p:nvSpPr>
          <p:cNvPr id="16" name="Oval 15">
            <a:extLst>
              <a:ext uri="{FF2B5EF4-FFF2-40B4-BE49-F238E27FC236}">
                <a16:creationId xmlns:a16="http://schemas.microsoft.com/office/drawing/2014/main" id="{AFA7AC1B-CAC3-3DCE-980D-439E4B25EDE8}"/>
              </a:ext>
            </a:extLst>
          </p:cNvPr>
          <p:cNvSpPr/>
          <p:nvPr/>
        </p:nvSpPr>
        <p:spPr>
          <a:xfrm rot="3052764">
            <a:off x="6638425" y="12859838"/>
            <a:ext cx="917617" cy="599653"/>
          </a:xfrm>
          <a:prstGeom prst="ellipse">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9685135-DF89-7C03-A33D-9F5F3502414E}"/>
              </a:ext>
            </a:extLst>
          </p:cNvPr>
          <p:cNvSpPr txBox="1"/>
          <p:nvPr/>
        </p:nvSpPr>
        <p:spPr>
          <a:xfrm>
            <a:off x="1344020" y="14322278"/>
            <a:ext cx="929347" cy="246221"/>
          </a:xfrm>
          <a:prstGeom prst="rect">
            <a:avLst/>
          </a:prstGeom>
          <a:solidFill>
            <a:srgbClr val="000000">
              <a:alpha val="43137"/>
            </a:srgbClr>
          </a:solidFill>
          <a:effectLst>
            <a:softEdge rad="12700"/>
          </a:effectLst>
        </p:spPr>
        <p:txBody>
          <a:bodyPr wrap="square" rtlCol="0">
            <a:spAutoFit/>
          </a:bodyPr>
          <a:lstStyle/>
          <a:p>
            <a:pPr algn="ctr"/>
            <a:r>
              <a:rPr lang="en-US" sz="1000" i="1" dirty="0">
                <a:solidFill>
                  <a:schemeClr val="bg1"/>
                </a:solidFill>
              </a:rPr>
              <a:t>B. decurrens </a:t>
            </a:r>
          </a:p>
        </p:txBody>
      </p:sp>
      <p:sp>
        <p:nvSpPr>
          <p:cNvPr id="18" name="TextBox 17">
            <a:extLst>
              <a:ext uri="{FF2B5EF4-FFF2-40B4-BE49-F238E27FC236}">
                <a16:creationId xmlns:a16="http://schemas.microsoft.com/office/drawing/2014/main" id="{7448AB64-32A6-3D2E-D97C-8704D4CCFA01}"/>
              </a:ext>
            </a:extLst>
          </p:cNvPr>
          <p:cNvSpPr txBox="1"/>
          <p:nvPr/>
        </p:nvSpPr>
        <p:spPr>
          <a:xfrm>
            <a:off x="7078404" y="14329379"/>
            <a:ext cx="952996" cy="246221"/>
          </a:xfrm>
          <a:prstGeom prst="rect">
            <a:avLst/>
          </a:prstGeom>
          <a:solidFill>
            <a:srgbClr val="000000">
              <a:alpha val="43137"/>
            </a:srgbClr>
          </a:solidFill>
          <a:effectLst>
            <a:softEdge rad="12700"/>
          </a:effectLst>
        </p:spPr>
        <p:txBody>
          <a:bodyPr wrap="square" rtlCol="0">
            <a:spAutoFit/>
          </a:bodyPr>
          <a:lstStyle/>
          <a:p>
            <a:pPr algn="ctr"/>
            <a:r>
              <a:rPr lang="en-US" sz="1000" i="1" dirty="0">
                <a:solidFill>
                  <a:schemeClr val="bg1"/>
                </a:solidFill>
              </a:rPr>
              <a:t>B. asteroides </a:t>
            </a:r>
          </a:p>
        </p:txBody>
      </p:sp>
      <p:pic>
        <p:nvPicPr>
          <p:cNvPr id="19" name="Picture 18" descr="A close up of flowers&#10;&#10;AI-generated content may be incorrect.">
            <a:extLst>
              <a:ext uri="{FF2B5EF4-FFF2-40B4-BE49-F238E27FC236}">
                <a16:creationId xmlns:a16="http://schemas.microsoft.com/office/drawing/2014/main" id="{92CA2186-6832-0BB5-FDAE-327257C94A3B}"/>
              </a:ext>
            </a:extLst>
          </p:cNvPr>
          <p:cNvPicPr>
            <a:picLocks noChangeAspect="1"/>
          </p:cNvPicPr>
          <p:nvPr/>
        </p:nvPicPr>
        <p:blipFill>
          <a:blip r:embed="rId7" cstate="print">
            <a:extLst>
              <a:ext uri="{28A0092B-C50C-407E-A947-70E740481C1C}">
                <a14:useLocalDpi xmlns:a14="http://schemas.microsoft.com/office/drawing/2010/main" val="0"/>
              </a:ext>
            </a:extLst>
          </a:blip>
          <a:srcRect l="15942" r="30236"/>
          <a:stretch>
            <a:fillRect/>
          </a:stretch>
        </p:blipFill>
        <p:spPr>
          <a:xfrm>
            <a:off x="5893042" y="5205971"/>
            <a:ext cx="2132339" cy="2641236"/>
          </a:xfrm>
          <a:prstGeom prst="rect">
            <a:avLst/>
          </a:prstGeom>
          <a:effectLst>
            <a:softEdge rad="31750"/>
          </a:effectLst>
        </p:spPr>
      </p:pic>
      <p:sp>
        <p:nvSpPr>
          <p:cNvPr id="20" name="TextBox 19">
            <a:extLst>
              <a:ext uri="{FF2B5EF4-FFF2-40B4-BE49-F238E27FC236}">
                <a16:creationId xmlns:a16="http://schemas.microsoft.com/office/drawing/2014/main" id="{4CEDF49F-AB4A-8D7C-BF6B-4874016B25DF}"/>
              </a:ext>
            </a:extLst>
          </p:cNvPr>
          <p:cNvSpPr txBox="1"/>
          <p:nvPr/>
        </p:nvSpPr>
        <p:spPr>
          <a:xfrm>
            <a:off x="6830526" y="7644520"/>
            <a:ext cx="1219200" cy="215444"/>
          </a:xfrm>
          <a:prstGeom prst="rect">
            <a:avLst/>
          </a:prstGeom>
          <a:solidFill>
            <a:schemeClr val="bg1">
              <a:alpha val="43000"/>
            </a:schemeClr>
          </a:solidFill>
          <a:effectLst>
            <a:softEdge rad="12700"/>
          </a:effectLst>
        </p:spPr>
        <p:txBody>
          <a:bodyPr wrap="square" rtlCol="0">
            <a:spAutoFit/>
          </a:bodyPr>
          <a:lstStyle/>
          <a:p>
            <a:pPr algn="ctr"/>
            <a:r>
              <a:rPr lang="en-US" sz="800" dirty="0"/>
              <a:t>Michael Budd/USFWS</a:t>
            </a:r>
          </a:p>
        </p:txBody>
      </p:sp>
      <p:pic>
        <p:nvPicPr>
          <p:cNvPr id="21" name="Picture 20" descr="A map of the united states&#10;&#10;AI-generated content may be incorrect.">
            <a:extLst>
              <a:ext uri="{FF2B5EF4-FFF2-40B4-BE49-F238E27FC236}">
                <a16:creationId xmlns:a16="http://schemas.microsoft.com/office/drawing/2014/main" id="{30CBD845-1A43-C6DB-CA7A-14BC0904D7E3}"/>
              </a:ext>
            </a:extLst>
          </p:cNvPr>
          <p:cNvPicPr>
            <a:picLocks noChangeAspect="1"/>
          </p:cNvPicPr>
          <p:nvPr/>
        </p:nvPicPr>
        <p:blipFill>
          <a:blip r:embed="rId8">
            <a:extLst>
              <a:ext uri="{28A0092B-C50C-407E-A947-70E740481C1C}">
                <a14:useLocalDpi xmlns:a14="http://schemas.microsoft.com/office/drawing/2010/main" val="0"/>
              </a:ext>
            </a:extLst>
          </a:blip>
          <a:srcRect l="3567" t="3106" r="10272" b="3726"/>
          <a:stretch>
            <a:fillRect/>
          </a:stretch>
        </p:blipFill>
        <p:spPr>
          <a:xfrm>
            <a:off x="2307772" y="11963078"/>
            <a:ext cx="3984271" cy="2629220"/>
          </a:xfrm>
          <a:prstGeom prst="rect">
            <a:avLst/>
          </a:prstGeom>
          <a:ln>
            <a:noFill/>
          </a:ln>
          <a:effectLst>
            <a:softEdge rad="31750"/>
          </a:effectLst>
        </p:spPr>
      </p:pic>
      <p:grpSp>
        <p:nvGrpSpPr>
          <p:cNvPr id="62" name="Group 61">
            <a:extLst>
              <a:ext uri="{FF2B5EF4-FFF2-40B4-BE49-F238E27FC236}">
                <a16:creationId xmlns:a16="http://schemas.microsoft.com/office/drawing/2014/main" id="{ACB62F4C-883C-6E52-65CD-B93D49532776}"/>
              </a:ext>
            </a:extLst>
          </p:cNvPr>
          <p:cNvGrpSpPr/>
          <p:nvPr/>
        </p:nvGrpSpPr>
        <p:grpSpPr>
          <a:xfrm>
            <a:off x="14935200" y="15843830"/>
            <a:ext cx="9490275" cy="4771538"/>
            <a:chOff x="8439811" y="15714687"/>
            <a:chExt cx="9490275" cy="4771538"/>
          </a:xfrm>
        </p:grpSpPr>
        <p:grpSp>
          <p:nvGrpSpPr>
            <p:cNvPr id="46" name="Group 45">
              <a:extLst>
                <a:ext uri="{FF2B5EF4-FFF2-40B4-BE49-F238E27FC236}">
                  <a16:creationId xmlns:a16="http://schemas.microsoft.com/office/drawing/2014/main" id="{C36D4713-0012-D370-357C-24F9FEC81FD6}"/>
                </a:ext>
              </a:extLst>
            </p:cNvPr>
            <p:cNvGrpSpPr>
              <a:grpSpLocks/>
            </p:cNvGrpSpPr>
            <p:nvPr/>
          </p:nvGrpSpPr>
          <p:grpSpPr>
            <a:xfrm>
              <a:off x="8439811" y="15714687"/>
              <a:ext cx="6419720" cy="4752931"/>
              <a:chOff x="8363775" y="16423030"/>
              <a:chExt cx="6362467" cy="5049024"/>
            </a:xfrm>
          </p:grpSpPr>
          <p:grpSp>
            <p:nvGrpSpPr>
              <p:cNvPr id="29" name="Group 28">
                <a:extLst>
                  <a:ext uri="{FF2B5EF4-FFF2-40B4-BE49-F238E27FC236}">
                    <a16:creationId xmlns:a16="http://schemas.microsoft.com/office/drawing/2014/main" id="{6914F18B-62DF-83A4-1DDC-14FE47F85F88}"/>
                  </a:ext>
                </a:extLst>
              </p:cNvPr>
              <p:cNvGrpSpPr>
                <a:grpSpLocks/>
              </p:cNvGrpSpPr>
              <p:nvPr/>
            </p:nvGrpSpPr>
            <p:grpSpPr>
              <a:xfrm>
                <a:off x="8382000" y="16744890"/>
                <a:ext cx="6344242" cy="4727164"/>
                <a:chOff x="8382000" y="16744890"/>
                <a:chExt cx="6344242" cy="4727164"/>
              </a:xfrm>
            </p:grpSpPr>
            <p:grpSp>
              <p:nvGrpSpPr>
                <p:cNvPr id="22" name="Group 21">
                  <a:extLst>
                    <a:ext uri="{FF2B5EF4-FFF2-40B4-BE49-F238E27FC236}">
                      <a16:creationId xmlns:a16="http://schemas.microsoft.com/office/drawing/2014/main" id="{B7D05A77-CFD8-AA8E-C53E-107D88948210}"/>
                    </a:ext>
                  </a:extLst>
                </p:cNvPr>
                <p:cNvGrpSpPr>
                  <a:grpSpLocks/>
                </p:cNvGrpSpPr>
                <p:nvPr/>
              </p:nvGrpSpPr>
              <p:grpSpPr>
                <a:xfrm>
                  <a:off x="8382000" y="16744890"/>
                  <a:ext cx="6344242" cy="4727164"/>
                  <a:chOff x="8382000" y="16744890"/>
                  <a:chExt cx="6344242" cy="4727164"/>
                </a:xfrm>
              </p:grpSpPr>
              <p:pic>
                <p:nvPicPr>
                  <p:cNvPr id="11" name="Picture 10" descr="A graph with black dots and a blue line&#10;&#10;AI-generated content may be incorrect.">
                    <a:extLst>
                      <a:ext uri="{FF2B5EF4-FFF2-40B4-BE49-F238E27FC236}">
                        <a16:creationId xmlns:a16="http://schemas.microsoft.com/office/drawing/2014/main" id="{1CBA367A-CADB-1894-28E6-12F7E8283395}"/>
                      </a:ext>
                    </a:extLst>
                  </p:cNvPr>
                  <p:cNvPicPr>
                    <a:picLocks noChangeAspect="1"/>
                  </p:cNvPicPr>
                  <p:nvPr/>
                </p:nvPicPr>
                <p:blipFill>
                  <a:blip r:embed="rId9" cstate="print">
                    <a:extLst>
                      <a:ext uri="{28A0092B-C50C-407E-A947-70E740481C1C}">
                        <a14:useLocalDpi xmlns:a14="http://schemas.microsoft.com/office/drawing/2010/main" val="0"/>
                      </a:ext>
                    </a:extLst>
                  </a:blip>
                  <a:srcRect t="6033"/>
                  <a:stretch>
                    <a:fillRect/>
                  </a:stretch>
                </p:blipFill>
                <p:spPr>
                  <a:xfrm>
                    <a:off x="8382000" y="16744890"/>
                    <a:ext cx="6344242" cy="4727164"/>
                  </a:xfrm>
                  <a:prstGeom prst="rect">
                    <a:avLst/>
                  </a:prstGeom>
                </p:spPr>
              </p:pic>
              <p:sp>
                <p:nvSpPr>
                  <p:cNvPr id="10" name="Rectangle 9">
                    <a:extLst>
                      <a:ext uri="{FF2B5EF4-FFF2-40B4-BE49-F238E27FC236}">
                        <a16:creationId xmlns:a16="http://schemas.microsoft.com/office/drawing/2014/main" id="{63A032CF-39FC-B160-CA65-FC190A2BDD21}"/>
                      </a:ext>
                    </a:extLst>
                  </p:cNvPr>
                  <p:cNvSpPr>
                    <a:spLocks/>
                  </p:cNvSpPr>
                  <p:nvPr/>
                </p:nvSpPr>
                <p:spPr bwMode="auto">
                  <a:xfrm>
                    <a:off x="11361394" y="21168262"/>
                    <a:ext cx="838200" cy="25726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b="0" i="0" u="none" strike="noStrike" cap="none" normalizeH="0" baseline="0">
                      <a:ln>
                        <a:noFill/>
                      </a:ln>
                      <a:solidFill>
                        <a:schemeClr val="tx1"/>
                      </a:solidFill>
                      <a:effectLst/>
                      <a:latin typeface="Arial" charset="0"/>
                    </a:endParaRPr>
                  </a:p>
                </p:txBody>
              </p:sp>
            </p:grpSp>
            <p:sp>
              <p:nvSpPr>
                <p:cNvPr id="24" name="Rectangle 23">
                  <a:extLst>
                    <a:ext uri="{FF2B5EF4-FFF2-40B4-BE49-F238E27FC236}">
                      <a16:creationId xmlns:a16="http://schemas.microsoft.com/office/drawing/2014/main" id="{EADC3204-454C-009D-5985-76A72D3EBE30}"/>
                    </a:ext>
                  </a:extLst>
                </p:cNvPr>
                <p:cNvSpPr>
                  <a:spLocks/>
                </p:cNvSpPr>
                <p:nvPr/>
              </p:nvSpPr>
              <p:spPr bwMode="auto">
                <a:xfrm>
                  <a:off x="8382000" y="18729191"/>
                  <a:ext cx="276999" cy="473209"/>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b="0" i="0" u="none" strike="noStrike" cap="none" normalizeH="0" baseline="0">
                    <a:ln>
                      <a:noFill/>
                    </a:ln>
                    <a:solidFill>
                      <a:schemeClr val="tx1"/>
                    </a:solidFill>
                    <a:effectLst/>
                    <a:latin typeface="Arial" charset="0"/>
                  </a:endParaRPr>
                </a:p>
              </p:txBody>
            </p:sp>
          </p:grpSp>
          <p:sp>
            <p:nvSpPr>
              <p:cNvPr id="25" name="TextBox 24">
                <a:extLst>
                  <a:ext uri="{FF2B5EF4-FFF2-40B4-BE49-F238E27FC236}">
                    <a16:creationId xmlns:a16="http://schemas.microsoft.com/office/drawing/2014/main" id="{FE450140-7224-3313-33E6-323E72C11B16}"/>
                  </a:ext>
                </a:extLst>
              </p:cNvPr>
              <p:cNvSpPr txBox="1">
                <a:spLocks/>
              </p:cNvSpPr>
              <p:nvPr/>
            </p:nvSpPr>
            <p:spPr>
              <a:xfrm>
                <a:off x="8363775" y="16423030"/>
                <a:ext cx="3192806" cy="359645"/>
              </a:xfrm>
              <a:prstGeom prst="rect">
                <a:avLst/>
              </a:prstGeom>
              <a:noFill/>
            </p:spPr>
            <p:txBody>
              <a:bodyPr wrap="square" rtlCol="0">
                <a:spAutoFit/>
              </a:bodyPr>
              <a:lstStyle/>
              <a:p>
                <a:pPr algn="ctr"/>
                <a:r>
                  <a:rPr lang="en-US" sz="1600" b="1" dirty="0"/>
                  <a:t>A.   Isolation by Environment</a:t>
                </a:r>
              </a:p>
            </p:txBody>
          </p:sp>
        </p:grpSp>
        <p:sp>
          <p:nvSpPr>
            <p:cNvPr id="9" name="TextBox 8">
              <a:extLst>
                <a:ext uri="{FF2B5EF4-FFF2-40B4-BE49-F238E27FC236}">
                  <a16:creationId xmlns:a16="http://schemas.microsoft.com/office/drawing/2014/main" id="{24D39ACE-90C2-4B50-CFB1-82190DFF576E}"/>
                </a:ext>
              </a:extLst>
            </p:cNvPr>
            <p:cNvSpPr txBox="1"/>
            <p:nvPr/>
          </p:nvSpPr>
          <p:spPr>
            <a:xfrm>
              <a:off x="10192411" y="20193000"/>
              <a:ext cx="2867390" cy="276999"/>
            </a:xfrm>
            <a:prstGeom prst="rect">
              <a:avLst/>
            </a:prstGeom>
            <a:noFill/>
          </p:spPr>
          <p:txBody>
            <a:bodyPr wrap="square" rtlCol="0">
              <a:spAutoFit/>
            </a:bodyPr>
            <a:lstStyle/>
            <a:p>
              <a:pPr algn="ctr"/>
              <a:r>
                <a:rPr lang="en-US" sz="1200" dirty="0"/>
                <a:t>Difference in Annual Temp. </a:t>
              </a:r>
              <a:r>
                <a:rPr lang="en-US" sz="1200" dirty="0">
                  <a:latin typeface="+mj-lt"/>
                </a:rPr>
                <a:t>Range (</a:t>
              </a:r>
              <a:r>
                <a:rPr lang="en-US" sz="1200" dirty="0">
                  <a:latin typeface="+mj-lt"/>
                  <a:ea typeface="Open Sans" panose="020B0606030504020204" pitchFamily="34" charset="0"/>
                  <a:cs typeface="Open Sans" panose="020B0606030504020204" pitchFamily="34" charset="0"/>
                </a:rPr>
                <a:t>°C</a:t>
              </a:r>
              <a:r>
                <a:rPr lang="en-US" sz="1200" dirty="0">
                  <a:latin typeface="+mj-lt"/>
                </a:rPr>
                <a:t>)</a:t>
              </a:r>
            </a:p>
          </p:txBody>
        </p:sp>
        <p:sp>
          <p:nvSpPr>
            <p:cNvPr id="23" name="TextBox 22">
              <a:extLst>
                <a:ext uri="{FF2B5EF4-FFF2-40B4-BE49-F238E27FC236}">
                  <a16:creationId xmlns:a16="http://schemas.microsoft.com/office/drawing/2014/main" id="{018DB8CD-7A47-B2A1-BF59-2EADE2FF16C4}"/>
                </a:ext>
              </a:extLst>
            </p:cNvPr>
            <p:cNvSpPr txBox="1"/>
            <p:nvPr/>
          </p:nvSpPr>
          <p:spPr>
            <a:xfrm rot="16200000">
              <a:off x="8239107" y="17904932"/>
              <a:ext cx="923187" cy="276999"/>
            </a:xfrm>
            <a:prstGeom prst="rect">
              <a:avLst/>
            </a:prstGeom>
            <a:noFill/>
          </p:spPr>
          <p:txBody>
            <a:bodyPr wrap="square" rtlCol="0">
              <a:spAutoFit/>
            </a:bodyPr>
            <a:lstStyle/>
            <a:p>
              <a:pPr algn="ctr"/>
              <a:r>
                <a:rPr lang="en-US" sz="1200" dirty="0"/>
                <a:t>F</a:t>
              </a:r>
              <a:r>
                <a:rPr lang="en-US" sz="1200" baseline="-25000" dirty="0"/>
                <a:t>ST</a:t>
              </a:r>
            </a:p>
          </p:txBody>
        </p:sp>
        <p:pic>
          <p:nvPicPr>
            <p:cNvPr id="14" name="Picture 13" descr="A map of a river&#10;&#10;AI-generated content may be incorrect.">
              <a:extLst>
                <a:ext uri="{FF2B5EF4-FFF2-40B4-BE49-F238E27FC236}">
                  <a16:creationId xmlns:a16="http://schemas.microsoft.com/office/drawing/2014/main" id="{918505E0-EAC8-31D2-C103-69D1E3156BAC}"/>
                </a:ext>
              </a:extLst>
            </p:cNvPr>
            <p:cNvPicPr>
              <a:picLocks noChangeAspect="1"/>
            </p:cNvPicPr>
            <p:nvPr/>
          </p:nvPicPr>
          <p:blipFill>
            <a:blip r:embed="rId10" cstate="print">
              <a:extLst>
                <a:ext uri="{28A0092B-C50C-407E-A947-70E740481C1C}">
                  <a14:useLocalDpi xmlns:a14="http://schemas.microsoft.com/office/drawing/2010/main" val="0"/>
                </a:ext>
              </a:extLst>
            </a:blip>
            <a:srcRect l="69622" t="29482" r="7183" b="32327"/>
            <a:stretch>
              <a:fillRect/>
            </a:stretch>
          </p:blipFill>
          <p:spPr>
            <a:xfrm>
              <a:off x="13685496" y="18455662"/>
              <a:ext cx="1155115" cy="1584938"/>
            </a:xfrm>
            <a:prstGeom prst="rect">
              <a:avLst/>
            </a:prstGeom>
          </p:spPr>
        </p:pic>
        <p:sp>
          <p:nvSpPr>
            <p:cNvPr id="43" name="Rectangle 42">
              <a:extLst>
                <a:ext uri="{FF2B5EF4-FFF2-40B4-BE49-F238E27FC236}">
                  <a16:creationId xmlns:a16="http://schemas.microsoft.com/office/drawing/2014/main" id="{B95443DC-F759-9EC7-5E1E-A0D6BAFC6674}"/>
                </a:ext>
              </a:extLst>
            </p:cNvPr>
            <p:cNvSpPr>
              <a:spLocks/>
            </p:cNvSpPr>
            <p:nvPr/>
          </p:nvSpPr>
          <p:spPr bwMode="auto">
            <a:xfrm>
              <a:off x="8550387" y="15714687"/>
              <a:ext cx="9379699" cy="4771538"/>
            </a:xfrm>
            <a:prstGeom prst="rect">
              <a:avLst/>
            </a:prstGeom>
            <a:noFill/>
            <a:ln w="9525" cap="flat" cmpd="sng" algn="ctr">
              <a:solidFill>
                <a:srgbClr val="03AD8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b="0" i="0" u="none" strike="noStrike" cap="none" normalizeH="0" baseline="0" dirty="0">
                <a:ln>
                  <a:noFill/>
                </a:ln>
                <a:solidFill>
                  <a:schemeClr val="tx1"/>
                </a:solidFill>
                <a:effectLst/>
                <a:latin typeface="Arial" charset="0"/>
              </a:endParaRPr>
            </a:p>
          </p:txBody>
        </p:sp>
        <p:pic>
          <p:nvPicPr>
            <p:cNvPr id="13" name="Picture 12" descr="A map of a river&#10;&#10;AI-generated content may be incorrect.">
              <a:extLst>
                <a:ext uri="{FF2B5EF4-FFF2-40B4-BE49-F238E27FC236}">
                  <a16:creationId xmlns:a16="http://schemas.microsoft.com/office/drawing/2014/main" id="{8CA4A9EB-995B-5CBA-E43A-98643991A385}"/>
                </a:ext>
              </a:extLst>
            </p:cNvPr>
            <p:cNvPicPr>
              <a:picLocks noChangeAspect="1"/>
            </p:cNvPicPr>
            <p:nvPr/>
          </p:nvPicPr>
          <p:blipFill>
            <a:blip r:embed="rId11" cstate="print">
              <a:extLst>
                <a:ext uri="{28A0092B-C50C-407E-A947-70E740481C1C}">
                  <a14:useLocalDpi xmlns:a14="http://schemas.microsoft.com/office/drawing/2010/main" val="0"/>
                </a:ext>
              </a:extLst>
            </a:blip>
            <a:srcRect l="7638" r="32392"/>
            <a:stretch>
              <a:fillRect/>
            </a:stretch>
          </p:blipFill>
          <p:spPr>
            <a:xfrm>
              <a:off x="14782800" y="16109669"/>
              <a:ext cx="3048295" cy="4235731"/>
            </a:xfrm>
            <a:prstGeom prst="rect">
              <a:avLst/>
            </a:prstGeom>
          </p:spPr>
        </p:pic>
      </p:grpSp>
      <p:sp>
        <p:nvSpPr>
          <p:cNvPr id="12" name="TextBox 11">
            <a:extLst>
              <a:ext uri="{FF2B5EF4-FFF2-40B4-BE49-F238E27FC236}">
                <a16:creationId xmlns:a16="http://schemas.microsoft.com/office/drawing/2014/main" id="{82E0DC1D-CDBE-D4B1-C515-68FE42813BB2}"/>
              </a:ext>
            </a:extLst>
          </p:cNvPr>
          <p:cNvSpPr txBox="1">
            <a:spLocks/>
          </p:cNvSpPr>
          <p:nvPr/>
        </p:nvSpPr>
        <p:spPr>
          <a:xfrm>
            <a:off x="25146000" y="5206181"/>
            <a:ext cx="4245033" cy="400110"/>
          </a:xfrm>
          <a:prstGeom prst="rect">
            <a:avLst/>
          </a:prstGeom>
          <a:noFill/>
        </p:spPr>
        <p:txBody>
          <a:bodyPr wrap="square" rtlCol="0">
            <a:spAutoFit/>
          </a:bodyPr>
          <a:lstStyle/>
          <a:p>
            <a:r>
              <a:rPr lang="en-US" sz="2000" b="1" dirty="0">
                <a:latin typeface="Titillium Web" panose="00000500000000000000" pitchFamily="2" charset="0"/>
                <a:ea typeface="Open Sans" panose="020B0606030504020204" pitchFamily="34" charset="0"/>
                <a:cs typeface="Open Sans" panose="020B0606030504020204" pitchFamily="34" charset="0"/>
              </a:rPr>
              <a:t>Species Boundaries </a:t>
            </a:r>
            <a:r>
              <a:rPr lang="en-US" sz="2000" i="1" dirty="0">
                <a:latin typeface="Titillium Web" panose="00000500000000000000" pitchFamily="2" charset="0"/>
                <a:ea typeface="Open Sans" panose="020B0606030504020204" pitchFamily="34" charset="0"/>
                <a:cs typeface="Open Sans" panose="020B0606030504020204" pitchFamily="34" charset="0"/>
              </a:rPr>
              <a:t>(Figure 1)</a:t>
            </a:r>
          </a:p>
        </p:txBody>
      </p:sp>
      <p:sp>
        <p:nvSpPr>
          <p:cNvPr id="37" name="Rectangle 36">
            <a:extLst>
              <a:ext uri="{FF2B5EF4-FFF2-40B4-BE49-F238E27FC236}">
                <a16:creationId xmlns:a16="http://schemas.microsoft.com/office/drawing/2014/main" id="{1281E0F7-1240-17EA-8B49-488999A52F49}"/>
              </a:ext>
            </a:extLst>
          </p:cNvPr>
          <p:cNvSpPr/>
          <p:nvPr/>
        </p:nvSpPr>
        <p:spPr bwMode="auto">
          <a:xfrm>
            <a:off x="8546930" y="12133902"/>
            <a:ext cx="15908999" cy="2910610"/>
          </a:xfrm>
          <a:prstGeom prst="rect">
            <a:avLst/>
          </a:prstGeom>
          <a:noFill/>
          <a:ln w="9525" cap="flat" cmpd="sng" algn="ctr">
            <a:solidFill>
              <a:srgbClr val="03AD8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b="0" i="0" u="none" strike="noStrike" cap="none" normalizeH="0" baseline="0" dirty="0">
              <a:ln>
                <a:noFill/>
              </a:ln>
              <a:solidFill>
                <a:schemeClr val="tx1"/>
              </a:solidFill>
              <a:effectLst/>
              <a:latin typeface="Arial" charset="0"/>
            </a:endParaRPr>
          </a:p>
        </p:txBody>
      </p:sp>
      <p:grpSp>
        <p:nvGrpSpPr>
          <p:cNvPr id="47" name="Group 46">
            <a:extLst>
              <a:ext uri="{FF2B5EF4-FFF2-40B4-BE49-F238E27FC236}">
                <a16:creationId xmlns:a16="http://schemas.microsoft.com/office/drawing/2014/main" id="{B71CC228-59BF-2B96-AE28-D3F14CEB822D}"/>
              </a:ext>
            </a:extLst>
          </p:cNvPr>
          <p:cNvGrpSpPr/>
          <p:nvPr/>
        </p:nvGrpSpPr>
        <p:grpSpPr>
          <a:xfrm>
            <a:off x="8546929" y="5259346"/>
            <a:ext cx="9290527" cy="6719909"/>
            <a:chOff x="12928587" y="5287581"/>
            <a:chExt cx="9301942" cy="6729477"/>
          </a:xfrm>
        </p:grpSpPr>
        <p:pic>
          <p:nvPicPr>
            <p:cNvPr id="30" name="Picture 29" descr="A screenshot of a computer screen&#10;&#10;AI-generated content may be incorrect.">
              <a:extLst>
                <a:ext uri="{FF2B5EF4-FFF2-40B4-BE49-F238E27FC236}">
                  <a16:creationId xmlns:a16="http://schemas.microsoft.com/office/drawing/2014/main" id="{6B01892F-B6A3-F708-267D-D547A35FA5C7}"/>
                </a:ext>
              </a:extLst>
            </p:cNvPr>
            <p:cNvPicPr>
              <a:picLocks noChangeAspect="1"/>
            </p:cNvPicPr>
            <p:nvPr/>
          </p:nvPicPr>
          <p:blipFill>
            <a:blip r:embed="rId12" cstate="print">
              <a:extLst>
                <a:ext uri="{28A0092B-C50C-407E-A947-70E740481C1C}">
                  <a14:useLocalDpi xmlns:a14="http://schemas.microsoft.com/office/drawing/2010/main" val="0"/>
                </a:ext>
              </a:extLst>
            </a:blip>
            <a:srcRect t="8611" r="30772" b="5925"/>
            <a:stretch>
              <a:fillRect/>
            </a:stretch>
          </p:blipFill>
          <p:spPr>
            <a:xfrm>
              <a:off x="12928587" y="5287581"/>
              <a:ext cx="6851342" cy="6729477"/>
            </a:xfrm>
            <a:prstGeom prst="rect">
              <a:avLst/>
            </a:prstGeom>
            <a:ln>
              <a:solidFill>
                <a:srgbClr val="03AD80"/>
              </a:solidFill>
            </a:ln>
            <a:effectLst/>
          </p:spPr>
        </p:pic>
        <p:pic>
          <p:nvPicPr>
            <p:cNvPr id="31" name="Picture 30" descr="A screenshot of a computer screen&#10;&#10;AI-generated content may be incorrect.">
              <a:extLst>
                <a:ext uri="{FF2B5EF4-FFF2-40B4-BE49-F238E27FC236}">
                  <a16:creationId xmlns:a16="http://schemas.microsoft.com/office/drawing/2014/main" id="{A167C90A-E3BB-A044-377A-4C24CCEF5C84}"/>
                </a:ext>
              </a:extLst>
            </p:cNvPr>
            <p:cNvPicPr>
              <a:picLocks noChangeAspect="1"/>
            </p:cNvPicPr>
            <p:nvPr/>
          </p:nvPicPr>
          <p:blipFill>
            <a:blip r:embed="rId13" cstate="print">
              <a:extLst>
                <a:ext uri="{28A0092B-C50C-407E-A947-70E740481C1C}">
                  <a14:useLocalDpi xmlns:a14="http://schemas.microsoft.com/office/drawing/2010/main" val="0"/>
                </a:ext>
              </a:extLst>
            </a:blip>
            <a:srcRect l="69016" t="31261" r="1013" b="32596"/>
            <a:stretch>
              <a:fillRect/>
            </a:stretch>
          </p:blipFill>
          <p:spPr>
            <a:xfrm>
              <a:off x="15528799" y="5394106"/>
              <a:ext cx="3037473" cy="2930386"/>
            </a:xfrm>
            <a:prstGeom prst="rect">
              <a:avLst/>
            </a:prstGeom>
          </p:spPr>
        </p:pic>
        <p:sp>
          <p:nvSpPr>
            <p:cNvPr id="32" name="Oval 31">
              <a:extLst>
                <a:ext uri="{FF2B5EF4-FFF2-40B4-BE49-F238E27FC236}">
                  <a16:creationId xmlns:a16="http://schemas.microsoft.com/office/drawing/2014/main" id="{A8BC56A4-CD5B-8E05-1484-F2D40931810A}"/>
                </a:ext>
              </a:extLst>
            </p:cNvPr>
            <p:cNvSpPr>
              <a:spLocks/>
            </p:cNvSpPr>
            <p:nvPr/>
          </p:nvSpPr>
          <p:spPr bwMode="auto">
            <a:xfrm rot="1368999">
              <a:off x="13536221" y="8523378"/>
              <a:ext cx="3145028" cy="940406"/>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b="0" i="0" u="none" strike="noStrike" cap="none" normalizeH="0" baseline="0">
                <a:ln>
                  <a:noFill/>
                </a:ln>
                <a:solidFill>
                  <a:schemeClr val="tx1"/>
                </a:solidFill>
                <a:effectLst/>
                <a:latin typeface="Arial" charset="0"/>
              </a:endParaRPr>
            </a:p>
          </p:txBody>
        </p:sp>
        <p:sp>
          <p:nvSpPr>
            <p:cNvPr id="33" name="Rectangle 32">
              <a:extLst>
                <a:ext uri="{FF2B5EF4-FFF2-40B4-BE49-F238E27FC236}">
                  <a16:creationId xmlns:a16="http://schemas.microsoft.com/office/drawing/2014/main" id="{240B41C8-3B78-82B1-DF90-C4AB357BE5BC}"/>
                </a:ext>
              </a:extLst>
            </p:cNvPr>
            <p:cNvSpPr>
              <a:spLocks/>
            </p:cNvSpPr>
            <p:nvPr/>
          </p:nvSpPr>
          <p:spPr bwMode="auto">
            <a:xfrm>
              <a:off x="16432672" y="7067089"/>
              <a:ext cx="2144709" cy="1233483"/>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b="0" i="0" u="none" strike="noStrike" cap="none" normalizeH="0" baseline="0">
                <a:ln>
                  <a:noFill/>
                </a:ln>
                <a:solidFill>
                  <a:schemeClr val="tx1"/>
                </a:solidFill>
                <a:effectLst/>
                <a:latin typeface="Arial" charset="0"/>
              </a:endParaRPr>
            </a:p>
          </p:txBody>
        </p:sp>
        <p:sp>
          <p:nvSpPr>
            <p:cNvPr id="27" name="TextBox 26">
              <a:extLst>
                <a:ext uri="{FF2B5EF4-FFF2-40B4-BE49-F238E27FC236}">
                  <a16:creationId xmlns:a16="http://schemas.microsoft.com/office/drawing/2014/main" id="{398924D8-0F80-81C7-219A-2F5ED36D91F7}"/>
                </a:ext>
              </a:extLst>
            </p:cNvPr>
            <p:cNvSpPr txBox="1"/>
            <p:nvPr/>
          </p:nvSpPr>
          <p:spPr>
            <a:xfrm>
              <a:off x="19779929" y="5288958"/>
              <a:ext cx="2450600" cy="3785652"/>
            </a:xfrm>
            <a:prstGeom prst="rect">
              <a:avLst/>
            </a:prstGeom>
            <a:noFill/>
          </p:spPr>
          <p:txBody>
            <a:bodyPr wrap="square" rtlCol="0">
              <a:spAutoFit/>
            </a:bodyPr>
            <a:lstStyle/>
            <a:p>
              <a:r>
                <a:rPr lang="en-US" sz="1600" dirty="0">
                  <a:latin typeface="Titillium Web" panose="00000500000000000000" pitchFamily="2" charset="0"/>
                  <a:ea typeface="Open Sans" panose="020B0606030504020204" pitchFamily="34" charset="0"/>
                  <a:cs typeface="Open Sans" panose="020B0606030504020204" pitchFamily="34" charset="0"/>
                </a:rPr>
                <a:t>Figure 1. (left) Principal component analysis (PCA) showing the grouping of genetically similar individuals based on the dataset including outgroups. The axes are labeled with the % of variance in the data explained by each PC. The circles indicate all outgroups and 24 misidentified plants from Cass.</a:t>
              </a:r>
            </a:p>
            <a:p>
              <a:endParaRPr lang="en-US" sz="1600" dirty="0">
                <a:latin typeface="Titillium Web" panose="00000500000000000000" pitchFamily="2" charset="0"/>
              </a:endParaRPr>
            </a:p>
          </p:txBody>
        </p:sp>
      </p:grpSp>
      <p:pic>
        <p:nvPicPr>
          <p:cNvPr id="2" name="Content Placeholder 4" descr="A map of the united states&#10;&#10;AI-generated content may be incorrect.">
            <a:extLst>
              <a:ext uri="{FF2B5EF4-FFF2-40B4-BE49-F238E27FC236}">
                <a16:creationId xmlns:a16="http://schemas.microsoft.com/office/drawing/2014/main" id="{66469E55-AED0-25D7-6DDD-F66ADD47EAC7}"/>
              </a:ext>
            </a:extLst>
          </p:cNvPr>
          <p:cNvPicPr>
            <a:picLocks noChangeAspect="1"/>
          </p:cNvPicPr>
          <p:nvPr/>
        </p:nvPicPr>
        <p:blipFill>
          <a:blip r:embed="rId14" cstate="print">
            <a:extLst>
              <a:ext uri="{28A0092B-C50C-407E-A947-70E740481C1C}">
                <a14:useLocalDpi xmlns:a14="http://schemas.microsoft.com/office/drawing/2010/main" val="0"/>
              </a:ext>
            </a:extLst>
          </a:blip>
          <a:srcRect t="5118"/>
          <a:stretch>
            <a:fillRect/>
          </a:stretch>
        </p:blipFill>
        <p:spPr>
          <a:xfrm>
            <a:off x="17837458" y="5250872"/>
            <a:ext cx="6618471" cy="6728383"/>
          </a:xfrm>
          <a:prstGeom prst="rect">
            <a:avLst/>
          </a:prstGeom>
          <a:noFill/>
          <a:ln>
            <a:solidFill>
              <a:srgbClr val="03AD80"/>
            </a:solidFill>
          </a:ln>
          <a:effectLst/>
        </p:spPr>
      </p:pic>
      <p:sp>
        <p:nvSpPr>
          <p:cNvPr id="28" name="TextBox 27">
            <a:extLst>
              <a:ext uri="{FF2B5EF4-FFF2-40B4-BE49-F238E27FC236}">
                <a16:creationId xmlns:a16="http://schemas.microsoft.com/office/drawing/2014/main" id="{FB0260EA-7DB9-A961-1C2A-E6B40B0135E0}"/>
              </a:ext>
            </a:extLst>
          </p:cNvPr>
          <p:cNvSpPr txBox="1"/>
          <p:nvPr/>
        </p:nvSpPr>
        <p:spPr>
          <a:xfrm>
            <a:off x="15386857" y="10563471"/>
            <a:ext cx="2449635" cy="1323439"/>
          </a:xfrm>
          <a:prstGeom prst="rect">
            <a:avLst/>
          </a:prstGeom>
          <a:noFill/>
        </p:spPr>
        <p:txBody>
          <a:bodyPr wrap="square" rtlCol="0">
            <a:spAutoFit/>
          </a:bodyPr>
          <a:lstStyle/>
          <a:p>
            <a:pPr algn="r"/>
            <a:r>
              <a:rPr lang="en-US" sz="1600" dirty="0">
                <a:latin typeface="Titillium Web" panose="00000500000000000000" pitchFamily="2" charset="0"/>
                <a:ea typeface="Open Sans" panose="020B0606030504020204" pitchFamily="34" charset="0"/>
                <a:cs typeface="Open Sans" panose="020B0606030504020204" pitchFamily="34" charset="0"/>
              </a:rPr>
              <a:t>Figure 2. (right) Map with admixture results displayed as pie charts for each population along with sample sizes.</a:t>
            </a:r>
          </a:p>
        </p:txBody>
      </p:sp>
      <p:sp>
        <p:nvSpPr>
          <p:cNvPr id="40" name="TextBox 39">
            <a:extLst>
              <a:ext uri="{FF2B5EF4-FFF2-40B4-BE49-F238E27FC236}">
                <a16:creationId xmlns:a16="http://schemas.microsoft.com/office/drawing/2014/main" id="{FB00E64C-1982-7E72-5841-E3DDFCCDFA79}"/>
              </a:ext>
            </a:extLst>
          </p:cNvPr>
          <p:cNvSpPr txBox="1"/>
          <p:nvPr/>
        </p:nvSpPr>
        <p:spPr>
          <a:xfrm>
            <a:off x="8537230" y="20671048"/>
            <a:ext cx="6355205" cy="830997"/>
          </a:xfrm>
          <a:prstGeom prst="rect">
            <a:avLst/>
          </a:prstGeom>
          <a:noFill/>
        </p:spPr>
        <p:txBody>
          <a:bodyPr wrap="square" rtlCol="0">
            <a:spAutoFit/>
          </a:bodyPr>
          <a:lstStyle/>
          <a:p>
            <a:pPr algn="just"/>
            <a:r>
              <a:rPr lang="en-US" sz="1600" dirty="0">
                <a:latin typeface="Titillium Web" panose="00000500000000000000" pitchFamily="2" charset="0"/>
                <a:ea typeface="Open Sans" panose="020B0606030504020204" pitchFamily="34" charset="0"/>
                <a:cs typeface="Open Sans" panose="020B0606030504020204" pitchFamily="34" charset="0"/>
              </a:rPr>
              <a:t>Figure 4. Pairwise F</a:t>
            </a:r>
            <a:r>
              <a:rPr lang="en-US" sz="1600" baseline="-25000" dirty="0">
                <a:latin typeface="Titillium Web" panose="00000500000000000000" pitchFamily="2" charset="0"/>
                <a:ea typeface="Open Sans" panose="020B0606030504020204" pitchFamily="34" charset="0"/>
                <a:cs typeface="Open Sans" panose="020B0606030504020204" pitchFamily="34" charset="0"/>
              </a:rPr>
              <a:t>ST</a:t>
            </a:r>
            <a:r>
              <a:rPr lang="en-US" sz="1600" dirty="0">
                <a:latin typeface="Titillium Web" panose="00000500000000000000" pitchFamily="2" charset="0"/>
                <a:ea typeface="Open Sans" panose="020B0606030504020204" pitchFamily="34" charset="0"/>
                <a:cs typeface="Open Sans" panose="020B0606030504020204" pitchFamily="34" charset="0"/>
              </a:rPr>
              <a:t>, a measure of genetic difference between pairs of populations, plotted against distance along river between pairs of populations. Mantel R, a measure of correlation, and p-value displayed.</a:t>
            </a:r>
          </a:p>
        </p:txBody>
      </p:sp>
      <p:sp>
        <p:nvSpPr>
          <p:cNvPr id="42" name="TextBox 41">
            <a:extLst>
              <a:ext uri="{FF2B5EF4-FFF2-40B4-BE49-F238E27FC236}">
                <a16:creationId xmlns:a16="http://schemas.microsoft.com/office/drawing/2014/main" id="{4188CFEF-7DB7-743E-7A84-67835CB98272}"/>
              </a:ext>
            </a:extLst>
          </p:cNvPr>
          <p:cNvSpPr txBox="1"/>
          <p:nvPr/>
        </p:nvSpPr>
        <p:spPr>
          <a:xfrm>
            <a:off x="15057590" y="20662857"/>
            <a:ext cx="9367885" cy="830997"/>
          </a:xfrm>
          <a:prstGeom prst="rect">
            <a:avLst/>
          </a:prstGeom>
          <a:noFill/>
        </p:spPr>
        <p:txBody>
          <a:bodyPr wrap="square" rtlCol="0">
            <a:spAutoFit/>
          </a:bodyPr>
          <a:lstStyle/>
          <a:p>
            <a:pPr algn="just"/>
            <a:r>
              <a:rPr lang="en-US" sz="1600" dirty="0">
                <a:latin typeface="Titillium Web" panose="00000500000000000000" pitchFamily="2" charset="0"/>
                <a:ea typeface="Open Sans" panose="020B0606030504020204" pitchFamily="34" charset="0"/>
                <a:cs typeface="Open Sans" panose="020B0606030504020204" pitchFamily="34" charset="0"/>
              </a:rPr>
              <a:t>Figure 5. A) The relationship between pairwise F</a:t>
            </a:r>
            <a:r>
              <a:rPr lang="en-US" sz="1600" baseline="-25000" dirty="0">
                <a:latin typeface="Titillium Web" panose="00000500000000000000" pitchFamily="2" charset="0"/>
                <a:ea typeface="Open Sans" panose="020B0606030504020204" pitchFamily="34" charset="0"/>
                <a:cs typeface="Open Sans" panose="020B0606030504020204" pitchFamily="34" charset="0"/>
              </a:rPr>
              <a:t>ST</a:t>
            </a:r>
            <a:r>
              <a:rPr lang="en-US" sz="1600" dirty="0">
                <a:latin typeface="Titillium Web" panose="00000500000000000000" pitchFamily="2" charset="0"/>
                <a:ea typeface="Open Sans" panose="020B0606030504020204" pitchFamily="34" charset="0"/>
                <a:cs typeface="Open Sans" panose="020B0606030504020204" pitchFamily="34" charset="0"/>
              </a:rPr>
              <a:t> and difference in the annual temperature range (°C) between pairs of populations. Mantel R, a measure of correlation, and p-value displayed. B. Climatic map for annual temperature range in the sampling locations.</a:t>
            </a:r>
          </a:p>
        </p:txBody>
      </p:sp>
      <p:sp>
        <p:nvSpPr>
          <p:cNvPr id="256" name="TextBox 255">
            <a:extLst>
              <a:ext uri="{FF2B5EF4-FFF2-40B4-BE49-F238E27FC236}">
                <a16:creationId xmlns:a16="http://schemas.microsoft.com/office/drawing/2014/main" id="{F79A68BB-91FD-5A33-86CA-24F48B65557F}"/>
              </a:ext>
            </a:extLst>
          </p:cNvPr>
          <p:cNvSpPr txBox="1">
            <a:spLocks/>
          </p:cNvSpPr>
          <p:nvPr/>
        </p:nvSpPr>
        <p:spPr>
          <a:xfrm>
            <a:off x="25146378" y="8167843"/>
            <a:ext cx="4197725" cy="400110"/>
          </a:xfrm>
          <a:prstGeom prst="rect">
            <a:avLst/>
          </a:prstGeom>
          <a:noFill/>
        </p:spPr>
        <p:txBody>
          <a:bodyPr wrap="square" rtlCol="0">
            <a:spAutoFit/>
          </a:bodyPr>
          <a:lstStyle/>
          <a:p>
            <a:r>
              <a:rPr lang="en-US" sz="2000" b="1" dirty="0">
                <a:latin typeface="Titillium Web" panose="00000500000000000000" pitchFamily="2" charset="0"/>
                <a:ea typeface="Open Sans" panose="020B0606030504020204" pitchFamily="34" charset="0"/>
                <a:cs typeface="Open Sans" panose="020B0606030504020204" pitchFamily="34" charset="0"/>
              </a:rPr>
              <a:t>Genetic Structure </a:t>
            </a:r>
            <a:r>
              <a:rPr lang="en-US" sz="2000" i="1" dirty="0">
                <a:latin typeface="Titillium Web" panose="00000500000000000000" pitchFamily="2" charset="0"/>
                <a:ea typeface="Open Sans" panose="020B0606030504020204" pitchFamily="34" charset="0"/>
                <a:cs typeface="Open Sans" panose="020B0606030504020204" pitchFamily="34" charset="0"/>
              </a:rPr>
              <a:t>(Figures 2, 3 &amp; 4)</a:t>
            </a:r>
          </a:p>
        </p:txBody>
      </p:sp>
      <p:sp>
        <p:nvSpPr>
          <p:cNvPr id="257" name="TextBox 256">
            <a:extLst>
              <a:ext uri="{FF2B5EF4-FFF2-40B4-BE49-F238E27FC236}">
                <a16:creationId xmlns:a16="http://schemas.microsoft.com/office/drawing/2014/main" id="{344949FB-036F-9D59-6A6E-E175C9A1AA0E}"/>
              </a:ext>
            </a:extLst>
          </p:cNvPr>
          <p:cNvSpPr txBox="1">
            <a:spLocks/>
          </p:cNvSpPr>
          <p:nvPr/>
        </p:nvSpPr>
        <p:spPr>
          <a:xfrm>
            <a:off x="25146000" y="11166988"/>
            <a:ext cx="4196958" cy="400110"/>
          </a:xfrm>
          <a:prstGeom prst="rect">
            <a:avLst/>
          </a:prstGeom>
          <a:noFill/>
        </p:spPr>
        <p:txBody>
          <a:bodyPr wrap="square" rtlCol="0">
            <a:spAutoFit/>
          </a:bodyPr>
          <a:lstStyle/>
          <a:p>
            <a:r>
              <a:rPr lang="en-US" sz="2000" b="1" dirty="0">
                <a:latin typeface="Titillium Web" panose="00000500000000000000" pitchFamily="2" charset="0"/>
                <a:ea typeface="Open Sans" panose="020B0606030504020204" pitchFamily="34" charset="0"/>
                <a:cs typeface="Open Sans" panose="020B0606030504020204" pitchFamily="34" charset="0"/>
              </a:rPr>
              <a:t>Local Adaptation </a:t>
            </a:r>
            <a:r>
              <a:rPr lang="en-US" sz="2000" i="1" dirty="0">
                <a:latin typeface="Titillium Web" panose="00000500000000000000" pitchFamily="2" charset="0"/>
                <a:ea typeface="Open Sans" panose="020B0606030504020204" pitchFamily="34" charset="0"/>
                <a:cs typeface="Open Sans" panose="020B0606030504020204" pitchFamily="34" charset="0"/>
              </a:rPr>
              <a:t>(Figures 4 &amp; 5)</a:t>
            </a:r>
          </a:p>
        </p:txBody>
      </p:sp>
      <p:sp>
        <p:nvSpPr>
          <p:cNvPr id="262" name="TextBox 261">
            <a:extLst>
              <a:ext uri="{FF2B5EF4-FFF2-40B4-BE49-F238E27FC236}">
                <a16:creationId xmlns:a16="http://schemas.microsoft.com/office/drawing/2014/main" id="{0F87F726-6FD3-F535-6CBE-D6A2B42EF5D6}"/>
              </a:ext>
            </a:extLst>
          </p:cNvPr>
          <p:cNvSpPr txBox="1"/>
          <p:nvPr/>
        </p:nvSpPr>
        <p:spPr>
          <a:xfrm>
            <a:off x="25140041" y="5564443"/>
            <a:ext cx="7244757"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tillium Web" panose="00000500000000000000" pitchFamily="2" charset="0"/>
              </a:rPr>
              <a:t>PCA (PC1: 21.44%, PC2: 8.75%) reveals four distinct clusters.</a:t>
            </a:r>
          </a:p>
          <a:p>
            <a:r>
              <a:rPr lang="en-US" sz="1000" dirty="0">
                <a:latin typeface="Titillium Web" panose="00000500000000000000" pitchFamily="2" charset="0"/>
              </a:rPr>
              <a:t>        </a:t>
            </a:r>
          </a:p>
          <a:p>
            <a:pPr marL="342900" indent="-342900">
              <a:buFont typeface="Arial" panose="020B0604020202020204" pitchFamily="34" charset="0"/>
              <a:buChar char="•"/>
            </a:pPr>
            <a:r>
              <a:rPr lang="en-US" sz="2000" dirty="0">
                <a:latin typeface="Titillium Web" panose="00000500000000000000" pitchFamily="2" charset="0"/>
              </a:rPr>
              <a:t>PC1 separates </a:t>
            </a:r>
            <a:r>
              <a:rPr lang="en-US" sz="2000" i="1" dirty="0">
                <a:latin typeface="Titillium Web" panose="00000500000000000000" pitchFamily="2" charset="0"/>
              </a:rPr>
              <a:t>B. decurrens </a:t>
            </a:r>
            <a:r>
              <a:rPr lang="en-US" sz="2000" dirty="0">
                <a:latin typeface="Titillium Web" panose="00000500000000000000" pitchFamily="2" charset="0"/>
              </a:rPr>
              <a:t>from outgroups and 24 of the specimens sampled from Cass County, which were likely misidentified.</a:t>
            </a:r>
          </a:p>
          <a:p>
            <a:endParaRPr lang="en-US" sz="1000" dirty="0">
              <a:latin typeface="Titillium Web" panose="00000500000000000000" pitchFamily="2" charset="0"/>
            </a:endParaRPr>
          </a:p>
          <a:p>
            <a:pPr marL="342900" indent="-342900">
              <a:buFont typeface="Arial" panose="020B0604020202020204" pitchFamily="34" charset="0"/>
              <a:buChar char="•"/>
            </a:pPr>
            <a:r>
              <a:rPr lang="en-US" sz="2000" dirty="0">
                <a:latin typeface="Titillium Web" panose="00000500000000000000" pitchFamily="2" charset="0"/>
              </a:rPr>
              <a:t>We found no strong admixed genotypes in our sample of </a:t>
            </a:r>
            <a:r>
              <a:rPr lang="en-US" sz="2000" i="1" dirty="0">
                <a:latin typeface="Titillium Web" panose="00000500000000000000" pitchFamily="2" charset="0"/>
              </a:rPr>
              <a:t>B. decurrens, </a:t>
            </a:r>
            <a:r>
              <a:rPr lang="en-US" sz="2000" dirty="0">
                <a:latin typeface="Titillium Web" panose="00000500000000000000" pitchFamily="2" charset="0"/>
              </a:rPr>
              <a:t>indicating no hybridization within our dataset that required filtering.</a:t>
            </a:r>
          </a:p>
        </p:txBody>
      </p:sp>
      <p:pic>
        <p:nvPicPr>
          <p:cNvPr id="268" name="Picture 267" descr="A logo for a museum&#10;&#10;AI-generated content may be incorrect.">
            <a:extLst>
              <a:ext uri="{FF2B5EF4-FFF2-40B4-BE49-F238E27FC236}">
                <a16:creationId xmlns:a16="http://schemas.microsoft.com/office/drawing/2014/main" id="{7BBCC6D8-CAC3-0A2F-02DC-CD3D3B7B8D9B}"/>
              </a:ext>
            </a:extLst>
          </p:cNvPr>
          <p:cNvPicPr>
            <a:picLocks noChangeAspect="1"/>
          </p:cNvPicPr>
          <p:nvPr/>
        </p:nvPicPr>
        <p:blipFill>
          <a:blip r:embed="rId15" cstate="print">
            <a:extLst>
              <a:ext uri="{28A0092B-C50C-407E-A947-70E740481C1C}">
                <a14:useLocalDpi xmlns:a14="http://schemas.microsoft.com/office/drawing/2010/main" val="0"/>
              </a:ext>
            </a:extLst>
          </a:blip>
          <a:srcRect b="4331"/>
          <a:stretch>
            <a:fillRect/>
          </a:stretch>
        </p:blipFill>
        <p:spPr>
          <a:xfrm>
            <a:off x="27732023" y="20249798"/>
            <a:ext cx="2747977" cy="1195958"/>
          </a:xfrm>
          <a:prstGeom prst="rect">
            <a:avLst/>
          </a:prstGeom>
        </p:spPr>
      </p:pic>
      <p:pic>
        <p:nvPicPr>
          <p:cNvPr id="258" name="Picture 257" descr="A graph of different colors&#10;&#10;AI-generated content may be incorrect.">
            <a:extLst>
              <a:ext uri="{FF2B5EF4-FFF2-40B4-BE49-F238E27FC236}">
                <a16:creationId xmlns:a16="http://schemas.microsoft.com/office/drawing/2014/main" id="{149E5AF4-2F7A-9694-A10F-FF73E3C0A07F}"/>
              </a:ext>
            </a:extLst>
          </p:cNvPr>
          <p:cNvPicPr>
            <a:picLocks noChangeAspect="1"/>
          </p:cNvPicPr>
          <p:nvPr/>
        </p:nvPicPr>
        <p:blipFill>
          <a:blip r:embed="rId16" cstate="print">
            <a:extLst>
              <a:ext uri="{28A0092B-C50C-407E-A947-70E740481C1C}">
                <a14:useLocalDpi xmlns:a14="http://schemas.microsoft.com/office/drawing/2010/main" val="0"/>
              </a:ext>
            </a:extLst>
          </a:blip>
          <a:srcRect l="2853" t="8186" r="379" b="7100"/>
          <a:stretch>
            <a:fillRect/>
          </a:stretch>
        </p:blipFill>
        <p:spPr>
          <a:xfrm>
            <a:off x="8580119" y="12218127"/>
            <a:ext cx="15827155" cy="2789142"/>
          </a:xfrm>
          <a:prstGeom prst="rect">
            <a:avLst/>
          </a:prstGeom>
        </p:spPr>
      </p:pic>
      <p:sp>
        <p:nvSpPr>
          <p:cNvPr id="260" name="TextBox 259">
            <a:extLst>
              <a:ext uri="{FF2B5EF4-FFF2-40B4-BE49-F238E27FC236}">
                <a16:creationId xmlns:a16="http://schemas.microsoft.com/office/drawing/2014/main" id="{1F0F9BB5-3980-F525-D871-5F33F47F34F7}"/>
              </a:ext>
            </a:extLst>
          </p:cNvPr>
          <p:cNvSpPr txBox="1"/>
          <p:nvPr/>
        </p:nvSpPr>
        <p:spPr>
          <a:xfrm>
            <a:off x="25140243" y="8536243"/>
            <a:ext cx="7244757"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tillium Web" panose="00000500000000000000" pitchFamily="2" charset="0"/>
              </a:rPr>
              <a:t>Admixture shows high gene flow between close populations, but limited over distance; isolation by distance supports this (Mantel R = 0.428).</a:t>
            </a:r>
          </a:p>
          <a:p>
            <a:r>
              <a:rPr lang="en-US" sz="1000" dirty="0">
                <a:latin typeface="Titillium Web" panose="00000500000000000000" pitchFamily="2" charset="0"/>
              </a:rPr>
              <a:t>            </a:t>
            </a:r>
          </a:p>
          <a:p>
            <a:pPr marL="342900" indent="-342900">
              <a:buFont typeface="Arial" panose="020B0604020202020204" pitchFamily="34" charset="0"/>
              <a:buChar char="•"/>
            </a:pPr>
            <a:r>
              <a:rPr lang="en-US" sz="2000" dirty="0">
                <a:latin typeface="Titillium Web" panose="00000500000000000000" pitchFamily="2" charset="0"/>
              </a:rPr>
              <a:t>Populations from Fulton county form a distinct mid-range group, suggesting unique local ecology.</a:t>
            </a:r>
          </a:p>
          <a:p>
            <a:r>
              <a:rPr lang="en-US" sz="1000" dirty="0">
                <a:latin typeface="Titillium Web" panose="00000500000000000000" pitchFamily="2" charset="0"/>
              </a:rPr>
              <a:t>      </a:t>
            </a:r>
          </a:p>
          <a:p>
            <a:pPr marL="342900" indent="-342900">
              <a:buFont typeface="Arial" panose="020B0604020202020204" pitchFamily="34" charset="0"/>
              <a:buChar char="•"/>
            </a:pPr>
            <a:r>
              <a:rPr lang="en-US" sz="2000" dirty="0">
                <a:latin typeface="Titillium Web" panose="00000500000000000000" pitchFamily="2" charset="0"/>
              </a:rPr>
              <a:t>Southern populations are more genetically distinct, possibly due to barriers to gene flow resulting from the dam.</a:t>
            </a:r>
          </a:p>
        </p:txBody>
      </p:sp>
      <p:sp>
        <p:nvSpPr>
          <p:cNvPr id="265" name="TextBox 264">
            <a:extLst>
              <a:ext uri="{FF2B5EF4-FFF2-40B4-BE49-F238E27FC236}">
                <a16:creationId xmlns:a16="http://schemas.microsoft.com/office/drawing/2014/main" id="{8823E4EB-E211-6337-A4BC-3CEC89B1F55E}"/>
              </a:ext>
            </a:extLst>
          </p:cNvPr>
          <p:cNvSpPr txBox="1"/>
          <p:nvPr/>
        </p:nvSpPr>
        <p:spPr>
          <a:xfrm>
            <a:off x="25146000" y="11568308"/>
            <a:ext cx="7244757" cy="1938992"/>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tillium Web" panose="00000500000000000000" pitchFamily="2" charset="0"/>
              </a:rPr>
              <a:t>Genetic differentiation is more strongly correlated with environmental differences (Mantel R = 0.494) than with distance (Mantel R = 0.428), suggesting that local environmental adaptation may play a stronger role in population structure than distance alone. More work is needed to establish if this pattern reflects actual local adaptation.</a:t>
            </a:r>
            <a:endParaRPr lang="en-US" sz="1000" dirty="0">
              <a:latin typeface="Titillium Web" panose="00000500000000000000" pitchFamily="2" charset="0"/>
            </a:endParaRPr>
          </a:p>
        </p:txBody>
      </p:sp>
      <p:sp>
        <p:nvSpPr>
          <p:cNvPr id="259" name="Rectangle 258">
            <a:extLst>
              <a:ext uri="{FF2B5EF4-FFF2-40B4-BE49-F238E27FC236}">
                <a16:creationId xmlns:a16="http://schemas.microsoft.com/office/drawing/2014/main" id="{87FD542E-5DD0-0F64-A1EC-BA0F86FD0041}"/>
              </a:ext>
            </a:extLst>
          </p:cNvPr>
          <p:cNvSpPr/>
          <p:nvPr/>
        </p:nvSpPr>
        <p:spPr bwMode="auto">
          <a:xfrm>
            <a:off x="8580119" y="18014749"/>
            <a:ext cx="210960" cy="44545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b="0" i="0" u="none" strike="noStrike" cap="none" normalizeH="0" baseline="0">
              <a:ln>
                <a:noFill/>
              </a:ln>
              <a:solidFill>
                <a:schemeClr val="tx1"/>
              </a:solidFill>
              <a:effectLst/>
              <a:latin typeface="Arial" charset="0"/>
            </a:endParaRPr>
          </a:p>
        </p:txBody>
      </p:sp>
      <p:sp>
        <p:nvSpPr>
          <p:cNvPr id="34" name="TextBox 33">
            <a:extLst>
              <a:ext uri="{FF2B5EF4-FFF2-40B4-BE49-F238E27FC236}">
                <a16:creationId xmlns:a16="http://schemas.microsoft.com/office/drawing/2014/main" id="{39673A26-817A-B798-865A-4771CF9CC280}"/>
              </a:ext>
            </a:extLst>
          </p:cNvPr>
          <p:cNvSpPr txBox="1">
            <a:spLocks/>
          </p:cNvSpPr>
          <p:nvPr/>
        </p:nvSpPr>
        <p:spPr>
          <a:xfrm>
            <a:off x="21232567" y="15826343"/>
            <a:ext cx="3221537" cy="338554"/>
          </a:xfrm>
          <a:prstGeom prst="rect">
            <a:avLst/>
          </a:prstGeom>
          <a:noFill/>
        </p:spPr>
        <p:txBody>
          <a:bodyPr wrap="square" rtlCol="0">
            <a:spAutoFit/>
          </a:bodyPr>
          <a:lstStyle/>
          <a:p>
            <a:r>
              <a:rPr lang="en-US" sz="1600" b="1" dirty="0"/>
              <a:t>B. </a:t>
            </a:r>
          </a:p>
        </p:txBody>
      </p:sp>
      <p:sp>
        <p:nvSpPr>
          <p:cNvPr id="45" name="TextBox 44">
            <a:extLst>
              <a:ext uri="{FF2B5EF4-FFF2-40B4-BE49-F238E27FC236}">
                <a16:creationId xmlns:a16="http://schemas.microsoft.com/office/drawing/2014/main" id="{DACA914B-9EF1-E71C-8D23-3E5A9A3F4D4B}"/>
              </a:ext>
            </a:extLst>
          </p:cNvPr>
          <p:cNvSpPr txBox="1"/>
          <p:nvPr/>
        </p:nvSpPr>
        <p:spPr>
          <a:xfrm rot="16200000">
            <a:off x="8190986" y="18119603"/>
            <a:ext cx="923187" cy="276999"/>
          </a:xfrm>
          <a:prstGeom prst="rect">
            <a:avLst/>
          </a:prstGeom>
          <a:noFill/>
        </p:spPr>
        <p:txBody>
          <a:bodyPr wrap="square" rtlCol="0">
            <a:spAutoFit/>
          </a:bodyPr>
          <a:lstStyle/>
          <a:p>
            <a:pPr algn="ctr"/>
            <a:r>
              <a:rPr lang="en-US" sz="1200" dirty="0"/>
              <a:t>F</a:t>
            </a:r>
            <a:r>
              <a:rPr lang="en-US" sz="1200" baseline="-25000" dirty="0"/>
              <a:t>ST</a:t>
            </a:r>
          </a:p>
        </p:txBody>
      </p:sp>
      <p:sp>
        <p:nvSpPr>
          <p:cNvPr id="35" name="Rectangle 34">
            <a:extLst>
              <a:ext uri="{FF2B5EF4-FFF2-40B4-BE49-F238E27FC236}">
                <a16:creationId xmlns:a16="http://schemas.microsoft.com/office/drawing/2014/main" id="{DE4E0DF8-BA42-2C97-C088-A59E079EA425}"/>
              </a:ext>
            </a:extLst>
          </p:cNvPr>
          <p:cNvSpPr/>
          <p:nvPr/>
        </p:nvSpPr>
        <p:spPr>
          <a:xfrm>
            <a:off x="24930509" y="13949171"/>
            <a:ext cx="7530691" cy="35559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6400">
              <a:effectLst/>
              <a:latin typeface="+mj-lt"/>
            </a:endParaRPr>
          </a:p>
        </p:txBody>
      </p:sp>
      <p:sp>
        <p:nvSpPr>
          <p:cNvPr id="49" name="Rectangle 48">
            <a:extLst>
              <a:ext uri="{FF2B5EF4-FFF2-40B4-BE49-F238E27FC236}">
                <a16:creationId xmlns:a16="http://schemas.microsoft.com/office/drawing/2014/main" id="{A6A111DB-149A-53C9-1572-D97334A0FDF5}"/>
              </a:ext>
            </a:extLst>
          </p:cNvPr>
          <p:cNvSpPr>
            <a:spLocks noChangeArrowheads="1"/>
          </p:cNvSpPr>
          <p:nvPr/>
        </p:nvSpPr>
        <p:spPr bwMode="auto">
          <a:xfrm>
            <a:off x="24930509" y="13792200"/>
            <a:ext cx="7530691" cy="594360"/>
          </a:xfrm>
          <a:prstGeom prst="rect">
            <a:avLst/>
          </a:prstGeom>
          <a:solidFill>
            <a:srgbClr val="03AD80"/>
          </a:solidFill>
          <a:ln w="12700">
            <a:noFill/>
            <a:miter lim="800000"/>
          </a:ln>
        </p:spPr>
        <p:txBody>
          <a:bodyPr wrap="none" lIns="182880" tIns="0" rIns="182880" bIns="45720"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3135215">
              <a:defRPr/>
            </a:pPr>
            <a:r>
              <a:rPr lang="en-US" sz="3600" dirty="0">
                <a:solidFill>
                  <a:schemeClr val="bg1"/>
                </a:solidFill>
                <a:effectLst/>
                <a:cs typeface="Times New Roman" panose="02020603050405020304" pitchFamily="18" charset="0"/>
              </a:rPr>
              <a:t>Implications for Conservation</a:t>
            </a:r>
          </a:p>
        </p:txBody>
      </p:sp>
      <p:sp>
        <p:nvSpPr>
          <p:cNvPr id="273" name="TextBox 272">
            <a:extLst>
              <a:ext uri="{FF2B5EF4-FFF2-40B4-BE49-F238E27FC236}">
                <a16:creationId xmlns:a16="http://schemas.microsoft.com/office/drawing/2014/main" id="{396738F5-35D3-7194-6805-B294C73A5B2D}"/>
              </a:ext>
            </a:extLst>
          </p:cNvPr>
          <p:cNvSpPr txBox="1"/>
          <p:nvPr/>
        </p:nvSpPr>
        <p:spPr>
          <a:xfrm>
            <a:off x="25063719" y="14354114"/>
            <a:ext cx="7244757" cy="3170099"/>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tillium Web" panose="00000500000000000000" pitchFamily="2" charset="0"/>
              </a:rPr>
              <a:t>Gene flow occurs mainly among nearby populations, so preserving populations across the range is key to capturing genetic diversity.</a:t>
            </a:r>
          </a:p>
          <a:p>
            <a:pPr marL="342900" indent="-342900">
              <a:buFont typeface="Arial" panose="020B0604020202020204" pitchFamily="34" charset="0"/>
              <a:buChar char="•"/>
            </a:pPr>
            <a:endParaRPr lang="en-US" sz="1000" dirty="0">
              <a:latin typeface="Titillium Web" panose="00000500000000000000" pitchFamily="2" charset="0"/>
            </a:endParaRPr>
          </a:p>
          <a:p>
            <a:pPr marL="342900" indent="-342900">
              <a:buFont typeface="Arial" panose="020B0604020202020204" pitchFamily="34" charset="0"/>
              <a:buChar char="•"/>
            </a:pPr>
            <a:r>
              <a:rPr lang="en-US" sz="2000" dirty="0">
                <a:latin typeface="Titillium Web" panose="00000500000000000000" pitchFamily="2" charset="0"/>
              </a:rPr>
              <a:t>The local adaptation revealed in the study suggest that  reintroduction efforts should use material from suitable nearby populations to ensure they are well adapted to their environment</a:t>
            </a:r>
          </a:p>
          <a:p>
            <a:r>
              <a:rPr lang="en-US" sz="1000" dirty="0">
                <a:latin typeface="Titillium Web" panose="00000500000000000000" pitchFamily="2" charset="0"/>
              </a:rPr>
              <a:t>        </a:t>
            </a:r>
          </a:p>
          <a:p>
            <a:pPr marL="342900" indent="-342900">
              <a:buFont typeface="Arial" panose="020B0604020202020204" pitchFamily="34" charset="0"/>
              <a:buChar char="•"/>
            </a:pPr>
            <a:r>
              <a:rPr lang="en-US" sz="2000" dirty="0">
                <a:latin typeface="Titillium Web" panose="00000500000000000000" pitchFamily="2" charset="0"/>
              </a:rPr>
              <a:t>Further research is needed to identify and assess candidate genes for local adaptation.</a:t>
            </a:r>
          </a:p>
        </p:txBody>
      </p:sp>
      <p:sp>
        <p:nvSpPr>
          <p:cNvPr id="270" name="Rectangle 13">
            <a:extLst>
              <a:ext uri="{FF2B5EF4-FFF2-40B4-BE49-F238E27FC236}">
                <a16:creationId xmlns:a16="http://schemas.microsoft.com/office/drawing/2014/main" id="{2038C416-7DAB-DDC1-5859-370575D035EF}"/>
              </a:ext>
            </a:extLst>
          </p:cNvPr>
          <p:cNvSpPr txBox="1">
            <a:spLocks noChangeArrowheads="1"/>
          </p:cNvSpPr>
          <p:nvPr/>
        </p:nvSpPr>
        <p:spPr bwMode="auto">
          <a:xfrm>
            <a:off x="-1639" y="-50799"/>
            <a:ext cx="32920040" cy="4112371"/>
          </a:xfrm>
          <a:prstGeom prst="rect">
            <a:avLst/>
          </a:prstGeom>
          <a:solidFill>
            <a:srgbClr val="028260"/>
          </a:solidFill>
          <a:ln w="60325" cap="flat">
            <a:noFill/>
            <a:miter lim="800000"/>
          </a:ln>
        </p:spPr>
        <p:txBody>
          <a:bodyPr vert="horz" wrap="square" lIns="250802" tIns="125401" rIns="250802" bIns="125401" anchor="ctr" anchorCtr="0" compatLnSpc="1">
            <a:prstTxWarp prst="textNoShape">
              <a:avLst/>
            </a:prstTxWarp>
          </a:bodyPr>
          <a:lstStyle>
            <a:defPPr>
              <a:defRPr kern="1200"/>
            </a:defPPr>
            <a:lvl1pPr algn="ctr" defTabSz="3762375" rtl="0" eaLnBrk="0" fontAlgn="base" hangingPunct="0">
              <a:spcBef>
                <a:spcPct val="0"/>
              </a:spcBef>
              <a:spcAft>
                <a:spcPct val="0"/>
              </a:spcAft>
              <a:defRPr sz="18200">
                <a:solidFill>
                  <a:schemeClr val="tx2"/>
                </a:solidFill>
                <a:latin typeface="+mj-lt"/>
                <a:ea typeface="+mj-ea"/>
                <a:cs typeface="+mj-cs"/>
              </a:defRPr>
            </a:lvl1pPr>
            <a:lvl2pPr algn="ctr" defTabSz="3762375" rtl="0" eaLnBrk="0" fontAlgn="base" hangingPunct="0">
              <a:spcBef>
                <a:spcPct val="0"/>
              </a:spcBef>
              <a:spcAft>
                <a:spcPct val="0"/>
              </a:spcAft>
              <a:defRPr sz="18200">
                <a:solidFill>
                  <a:schemeClr val="tx2"/>
                </a:solidFill>
                <a:latin typeface="Arial"/>
              </a:defRPr>
            </a:lvl2pPr>
            <a:lvl3pPr algn="ctr" defTabSz="3762375" rtl="0" eaLnBrk="0" fontAlgn="base" hangingPunct="0">
              <a:spcBef>
                <a:spcPct val="0"/>
              </a:spcBef>
              <a:spcAft>
                <a:spcPct val="0"/>
              </a:spcAft>
              <a:defRPr sz="18200">
                <a:solidFill>
                  <a:schemeClr val="tx2"/>
                </a:solidFill>
                <a:latin typeface="Arial"/>
              </a:defRPr>
            </a:lvl3pPr>
            <a:lvl4pPr algn="ctr" defTabSz="3762375" rtl="0" eaLnBrk="0" fontAlgn="base" hangingPunct="0">
              <a:spcBef>
                <a:spcPct val="0"/>
              </a:spcBef>
              <a:spcAft>
                <a:spcPct val="0"/>
              </a:spcAft>
              <a:defRPr sz="18200">
                <a:solidFill>
                  <a:schemeClr val="tx2"/>
                </a:solidFill>
                <a:latin typeface="Arial"/>
              </a:defRPr>
            </a:lvl4pPr>
            <a:lvl5pPr algn="ctr" defTabSz="3762375" rtl="0" eaLnBrk="0" fontAlgn="base" hangingPunct="0">
              <a:spcBef>
                <a:spcPct val="0"/>
              </a:spcBef>
              <a:spcAft>
                <a:spcPct val="0"/>
              </a:spcAft>
              <a:defRPr sz="18200">
                <a:solidFill>
                  <a:schemeClr val="tx2"/>
                </a:solidFill>
                <a:latin typeface="Arial"/>
              </a:defRPr>
            </a:lvl5pPr>
            <a:lvl6pPr marL="457200" algn="ctr" defTabSz="3762375" rtl="0" fontAlgn="base">
              <a:spcBef>
                <a:spcPct val="0"/>
              </a:spcBef>
              <a:spcAft>
                <a:spcPct val="0"/>
              </a:spcAft>
              <a:defRPr sz="18200">
                <a:solidFill>
                  <a:schemeClr val="tx2"/>
                </a:solidFill>
                <a:latin typeface="Arial"/>
              </a:defRPr>
            </a:lvl6pPr>
            <a:lvl7pPr marL="914400" algn="ctr" defTabSz="3762375" rtl="0" fontAlgn="base">
              <a:spcBef>
                <a:spcPct val="0"/>
              </a:spcBef>
              <a:spcAft>
                <a:spcPct val="0"/>
              </a:spcAft>
              <a:defRPr sz="18200">
                <a:solidFill>
                  <a:schemeClr val="tx2"/>
                </a:solidFill>
                <a:latin typeface="Arial"/>
              </a:defRPr>
            </a:lvl7pPr>
            <a:lvl8pPr marL="1371600" algn="ctr" defTabSz="3762375" rtl="0" fontAlgn="base">
              <a:spcBef>
                <a:spcPct val="0"/>
              </a:spcBef>
              <a:spcAft>
                <a:spcPct val="0"/>
              </a:spcAft>
              <a:defRPr sz="18200">
                <a:solidFill>
                  <a:schemeClr val="tx2"/>
                </a:solidFill>
                <a:latin typeface="Arial"/>
              </a:defRPr>
            </a:lvl8pPr>
            <a:lvl9pPr marL="1828800" algn="ctr" defTabSz="3762375" rtl="0" fontAlgn="base">
              <a:spcBef>
                <a:spcPct val="0"/>
              </a:spcBef>
              <a:spcAft>
                <a:spcPct val="0"/>
              </a:spcAft>
              <a:defRPr sz="18200">
                <a:solidFill>
                  <a:schemeClr val="tx2"/>
                </a:solidFill>
                <a:latin typeface="Arial"/>
              </a:defRPr>
            </a:lvl9pPr>
          </a:lstStyle>
          <a:p>
            <a:pPr eaLnBrk="1" hangingPunct="1"/>
            <a:endParaRPr lang="en-US" sz="3200" i="1">
              <a:solidFill>
                <a:schemeClr val="bg1"/>
              </a:solidFill>
              <a:latin typeface="Arial" panose="020B0604020202020204" pitchFamily="34" charset="0"/>
            </a:endParaRPr>
          </a:p>
        </p:txBody>
      </p:sp>
      <p:sp>
        <p:nvSpPr>
          <p:cNvPr id="271" name="Title 11">
            <a:extLst>
              <a:ext uri="{FF2B5EF4-FFF2-40B4-BE49-F238E27FC236}">
                <a16:creationId xmlns:a16="http://schemas.microsoft.com/office/drawing/2014/main" id="{EAE4269E-A27B-B686-41C4-56A1BA81EBF8}"/>
              </a:ext>
            </a:extLst>
          </p:cNvPr>
          <p:cNvSpPr txBox="1"/>
          <p:nvPr/>
        </p:nvSpPr>
        <p:spPr>
          <a:xfrm>
            <a:off x="2628900" y="222498"/>
            <a:ext cx="27660600" cy="1831290"/>
          </a:xfrm>
          <a:prstGeom prst="rect">
            <a:avLst/>
          </a:prstGeom>
        </p:spPr>
        <p:txBody>
          <a:bodyPr lIns="85344" tIns="42672" rIns="85344" bIns="42672"/>
          <a:lstStyle>
            <a:defPPr>
              <a:defRPr lang="en-US"/>
            </a:defPPr>
            <a:lvl1pPr marL="0" algn="l" defTabSz="4388077" rtl="0" eaLnBrk="1" latinLnBrk="0" hangingPunct="1">
              <a:defRPr sz="8698" kern="1200">
                <a:solidFill>
                  <a:schemeClr val="tx1"/>
                </a:solidFill>
                <a:latin typeface="+mn-lt"/>
                <a:ea typeface="+mn-ea"/>
                <a:cs typeface="+mn-cs"/>
              </a:defRPr>
            </a:lvl1pPr>
            <a:lvl2pPr marL="2194039" algn="l" defTabSz="4388077" rtl="0" eaLnBrk="1" latinLnBrk="0" hangingPunct="1">
              <a:defRPr sz="8698" kern="1200">
                <a:solidFill>
                  <a:schemeClr val="tx1"/>
                </a:solidFill>
                <a:latin typeface="+mn-lt"/>
                <a:ea typeface="+mn-ea"/>
                <a:cs typeface="+mn-cs"/>
              </a:defRPr>
            </a:lvl2pPr>
            <a:lvl3pPr marL="4388077" algn="l" defTabSz="4388077" rtl="0" eaLnBrk="1" latinLnBrk="0" hangingPunct="1">
              <a:defRPr sz="8698" kern="1200">
                <a:solidFill>
                  <a:schemeClr val="tx1"/>
                </a:solidFill>
                <a:latin typeface="+mn-lt"/>
                <a:ea typeface="+mn-ea"/>
                <a:cs typeface="+mn-cs"/>
              </a:defRPr>
            </a:lvl3pPr>
            <a:lvl4pPr marL="6582120" algn="l" defTabSz="4388077" rtl="0" eaLnBrk="1" latinLnBrk="0" hangingPunct="1">
              <a:defRPr sz="8698" kern="1200">
                <a:solidFill>
                  <a:schemeClr val="tx1"/>
                </a:solidFill>
                <a:latin typeface="+mn-lt"/>
                <a:ea typeface="+mn-ea"/>
                <a:cs typeface="+mn-cs"/>
              </a:defRPr>
            </a:lvl4pPr>
            <a:lvl5pPr marL="8776160" algn="l" defTabSz="4388077" rtl="0" eaLnBrk="1" latinLnBrk="0" hangingPunct="1">
              <a:defRPr sz="8698" kern="1200">
                <a:solidFill>
                  <a:schemeClr val="tx1"/>
                </a:solidFill>
                <a:latin typeface="+mn-lt"/>
                <a:ea typeface="+mn-ea"/>
                <a:cs typeface="+mn-cs"/>
              </a:defRPr>
            </a:lvl5pPr>
            <a:lvl6pPr marL="10970199" algn="l" defTabSz="4388077" rtl="0" eaLnBrk="1" latinLnBrk="0" hangingPunct="1">
              <a:defRPr sz="8698" kern="1200">
                <a:solidFill>
                  <a:schemeClr val="tx1"/>
                </a:solidFill>
                <a:latin typeface="+mn-lt"/>
                <a:ea typeface="+mn-ea"/>
                <a:cs typeface="+mn-cs"/>
              </a:defRPr>
            </a:lvl6pPr>
            <a:lvl7pPr marL="13164238" algn="l" defTabSz="4388077" rtl="0" eaLnBrk="1" latinLnBrk="0" hangingPunct="1">
              <a:defRPr sz="8698" kern="1200">
                <a:solidFill>
                  <a:schemeClr val="tx1"/>
                </a:solidFill>
                <a:latin typeface="+mn-lt"/>
                <a:ea typeface="+mn-ea"/>
                <a:cs typeface="+mn-cs"/>
              </a:defRPr>
            </a:lvl7pPr>
            <a:lvl8pPr marL="15358277" algn="l" defTabSz="4388077" rtl="0" eaLnBrk="1" latinLnBrk="0" hangingPunct="1">
              <a:defRPr sz="8698" kern="1200">
                <a:solidFill>
                  <a:schemeClr val="tx1"/>
                </a:solidFill>
                <a:latin typeface="+mn-lt"/>
                <a:ea typeface="+mn-ea"/>
                <a:cs typeface="+mn-cs"/>
              </a:defRPr>
            </a:lvl8pPr>
            <a:lvl9pPr marL="17552318" algn="l" defTabSz="4388077" rtl="0" eaLnBrk="1" latinLnBrk="0" hangingPunct="1">
              <a:defRPr sz="8698" kern="1200">
                <a:solidFill>
                  <a:schemeClr val="tx1"/>
                </a:solidFill>
                <a:latin typeface="+mn-lt"/>
                <a:ea typeface="+mn-ea"/>
                <a:cs typeface="+mn-cs"/>
              </a:defRPr>
            </a:lvl9pPr>
          </a:lstStyle>
          <a:p>
            <a:pPr algn="ctr"/>
            <a:r>
              <a:rPr lang="en-US" sz="6600" b="1" dirty="0">
                <a:solidFill>
                  <a:schemeClr val="bg1"/>
                </a:solidFill>
                <a:latin typeface="Times New Roman" panose="02020603050405020304" pitchFamily="18" charset="0"/>
                <a:cs typeface="Times New Roman" panose="02020603050405020304" pitchFamily="18" charset="0"/>
              </a:rPr>
              <a:t>Using Genomic Data to Study Population Structure and Local Adaptation in </a:t>
            </a:r>
            <a:r>
              <a:rPr lang="en-US" sz="6600" b="1" i="1" dirty="0">
                <a:solidFill>
                  <a:schemeClr val="bg1"/>
                </a:solidFill>
                <a:latin typeface="Times New Roman" panose="02020603050405020304" pitchFamily="18" charset="0"/>
                <a:cs typeface="Times New Roman" panose="02020603050405020304" pitchFamily="18" charset="0"/>
              </a:rPr>
              <a:t>Boltonia decurrens</a:t>
            </a:r>
          </a:p>
        </p:txBody>
      </p:sp>
      <p:sp>
        <p:nvSpPr>
          <p:cNvPr id="272" name="Text Placeholder 16">
            <a:extLst>
              <a:ext uri="{FF2B5EF4-FFF2-40B4-BE49-F238E27FC236}">
                <a16:creationId xmlns:a16="http://schemas.microsoft.com/office/drawing/2014/main" id="{CEFB9023-C579-CA2C-61BF-41436B5384D4}"/>
              </a:ext>
            </a:extLst>
          </p:cNvPr>
          <p:cNvSpPr txBox="1"/>
          <p:nvPr/>
        </p:nvSpPr>
        <p:spPr>
          <a:xfrm>
            <a:off x="457200" y="2338084"/>
            <a:ext cx="31851399" cy="1486561"/>
          </a:xfrm>
          <a:prstGeom prst="rect">
            <a:avLst/>
          </a:prstGeom>
        </p:spPr>
        <p:txBody>
          <a:bodyPr wrap="square" lIns="85344" tIns="42672" rIns="85344" bIns="42672">
            <a:spAutoFit/>
          </a:bodyPr>
          <a:lstStyle>
            <a:defPPr>
              <a:defRPr lang="en-US"/>
            </a:defPPr>
            <a:lvl1pPr marL="0" algn="l" defTabSz="4388077" rtl="0" eaLnBrk="1" latinLnBrk="0" hangingPunct="1">
              <a:defRPr sz="8698" kern="1200">
                <a:solidFill>
                  <a:schemeClr val="tx1"/>
                </a:solidFill>
                <a:latin typeface="+mn-lt"/>
                <a:ea typeface="+mn-ea"/>
                <a:cs typeface="+mn-cs"/>
              </a:defRPr>
            </a:lvl1pPr>
            <a:lvl2pPr marL="2194039" algn="l" defTabSz="4388077" rtl="0" eaLnBrk="1" latinLnBrk="0" hangingPunct="1">
              <a:defRPr sz="8698" kern="1200">
                <a:solidFill>
                  <a:schemeClr val="tx1"/>
                </a:solidFill>
                <a:latin typeface="+mn-lt"/>
                <a:ea typeface="+mn-ea"/>
                <a:cs typeface="+mn-cs"/>
              </a:defRPr>
            </a:lvl2pPr>
            <a:lvl3pPr marL="4388077" algn="l" defTabSz="4388077" rtl="0" eaLnBrk="1" latinLnBrk="0" hangingPunct="1">
              <a:defRPr sz="8698" kern="1200">
                <a:solidFill>
                  <a:schemeClr val="tx1"/>
                </a:solidFill>
                <a:latin typeface="+mn-lt"/>
                <a:ea typeface="+mn-ea"/>
                <a:cs typeface="+mn-cs"/>
              </a:defRPr>
            </a:lvl3pPr>
            <a:lvl4pPr marL="6582120" algn="l" defTabSz="4388077" rtl="0" eaLnBrk="1" latinLnBrk="0" hangingPunct="1">
              <a:defRPr sz="8698" kern="1200">
                <a:solidFill>
                  <a:schemeClr val="tx1"/>
                </a:solidFill>
                <a:latin typeface="+mn-lt"/>
                <a:ea typeface="+mn-ea"/>
                <a:cs typeface="+mn-cs"/>
              </a:defRPr>
            </a:lvl4pPr>
            <a:lvl5pPr marL="8776160" algn="l" defTabSz="4388077" rtl="0" eaLnBrk="1" latinLnBrk="0" hangingPunct="1">
              <a:defRPr sz="8698" kern="1200">
                <a:solidFill>
                  <a:schemeClr val="tx1"/>
                </a:solidFill>
                <a:latin typeface="+mn-lt"/>
                <a:ea typeface="+mn-ea"/>
                <a:cs typeface="+mn-cs"/>
              </a:defRPr>
            </a:lvl5pPr>
            <a:lvl6pPr marL="10970199" algn="l" defTabSz="4388077" rtl="0" eaLnBrk="1" latinLnBrk="0" hangingPunct="1">
              <a:defRPr sz="8698" kern="1200">
                <a:solidFill>
                  <a:schemeClr val="tx1"/>
                </a:solidFill>
                <a:latin typeface="+mn-lt"/>
                <a:ea typeface="+mn-ea"/>
                <a:cs typeface="+mn-cs"/>
              </a:defRPr>
            </a:lvl6pPr>
            <a:lvl7pPr marL="13164238" algn="l" defTabSz="4388077" rtl="0" eaLnBrk="1" latinLnBrk="0" hangingPunct="1">
              <a:defRPr sz="8698" kern="1200">
                <a:solidFill>
                  <a:schemeClr val="tx1"/>
                </a:solidFill>
                <a:latin typeface="+mn-lt"/>
                <a:ea typeface="+mn-ea"/>
                <a:cs typeface="+mn-cs"/>
              </a:defRPr>
            </a:lvl7pPr>
            <a:lvl8pPr marL="15358277" algn="l" defTabSz="4388077" rtl="0" eaLnBrk="1" latinLnBrk="0" hangingPunct="1">
              <a:defRPr sz="8698" kern="1200">
                <a:solidFill>
                  <a:schemeClr val="tx1"/>
                </a:solidFill>
                <a:latin typeface="+mn-lt"/>
                <a:ea typeface="+mn-ea"/>
                <a:cs typeface="+mn-cs"/>
              </a:defRPr>
            </a:lvl8pPr>
            <a:lvl9pPr marL="17552318" algn="l" defTabSz="4388077" rtl="0" eaLnBrk="1" latinLnBrk="0" hangingPunct="1">
              <a:defRPr sz="8698" kern="1200">
                <a:solidFill>
                  <a:schemeClr val="tx1"/>
                </a:solidFill>
                <a:latin typeface="+mn-lt"/>
                <a:ea typeface="+mn-ea"/>
                <a:cs typeface="+mn-cs"/>
              </a:defRPr>
            </a:lvl9pPr>
          </a:lstStyle>
          <a:p>
            <a:pPr algn="ctr"/>
            <a:r>
              <a:rPr lang="en-US" sz="3600" dirty="0">
                <a:solidFill>
                  <a:schemeClr val="bg1"/>
                </a:solidFill>
                <a:latin typeface="Titillium Web" panose="00000500000000000000" pitchFamily="2" charset="0"/>
              </a:rPr>
              <a:t>Ethan Coble</a:t>
            </a:r>
            <a:r>
              <a:rPr lang="en-US" sz="3600" baseline="30000" dirty="0">
                <a:solidFill>
                  <a:schemeClr val="bg1"/>
                </a:solidFill>
                <a:latin typeface="Titillium Web" panose="00000500000000000000" pitchFamily="2" charset="0"/>
              </a:rPr>
              <a:t>1, 2</a:t>
            </a:r>
            <a:r>
              <a:rPr lang="en-US" sz="3600" dirty="0">
                <a:solidFill>
                  <a:schemeClr val="bg1"/>
                </a:solidFill>
                <a:latin typeface="Titillium Web" panose="00000500000000000000" pitchFamily="2" charset="0"/>
              </a:rPr>
              <a:t>, Wen-Hsi Kuo</a:t>
            </a:r>
            <a:r>
              <a:rPr lang="en-US" sz="3600" baseline="30000" dirty="0">
                <a:solidFill>
                  <a:schemeClr val="bg1"/>
                </a:solidFill>
                <a:latin typeface="Titillium Web" panose="00000500000000000000" pitchFamily="2" charset="0"/>
              </a:rPr>
              <a:t>1, 3</a:t>
            </a:r>
            <a:r>
              <a:rPr lang="en-US" sz="3600" dirty="0">
                <a:solidFill>
                  <a:schemeClr val="bg1"/>
                </a:solidFill>
                <a:latin typeface="Titillium Web" panose="00000500000000000000" pitchFamily="2" charset="0"/>
              </a:rPr>
              <a:t>, and Christine E. Edwards</a:t>
            </a:r>
            <a:r>
              <a:rPr lang="en-US" sz="3600" baseline="30000" dirty="0">
                <a:solidFill>
                  <a:schemeClr val="bg1"/>
                </a:solidFill>
                <a:latin typeface="Titillium Web" panose="00000500000000000000" pitchFamily="2" charset="0"/>
              </a:rPr>
              <a:t>1</a:t>
            </a:r>
          </a:p>
          <a:p>
            <a:pPr algn="ctr"/>
            <a:endParaRPr lang="en-US" sz="1100" dirty="0">
              <a:solidFill>
                <a:schemeClr val="bg1"/>
              </a:solidFill>
              <a:latin typeface="Titillium Web" panose="00000500000000000000" pitchFamily="2" charset="0"/>
            </a:endParaRPr>
          </a:p>
          <a:p>
            <a:pPr algn="ctr"/>
            <a:r>
              <a:rPr lang="en-US" sz="2200" baseline="30000" dirty="0">
                <a:solidFill>
                  <a:schemeClr val="bg1"/>
                </a:solidFill>
                <a:latin typeface="Titillium Web" panose="00000500000000000000" pitchFamily="2" charset="0"/>
              </a:rPr>
              <a:t>1</a:t>
            </a:r>
            <a:r>
              <a:rPr lang="en-US" sz="2200" dirty="0">
                <a:solidFill>
                  <a:schemeClr val="bg1"/>
                </a:solidFill>
                <a:latin typeface="Titillium Web" panose="00000500000000000000" pitchFamily="2" charset="0"/>
              </a:rPr>
              <a:t>Center for Conservation and Sustainable Development, Missouri Botanical Garden ; </a:t>
            </a:r>
          </a:p>
          <a:p>
            <a:pPr algn="ctr"/>
            <a:r>
              <a:rPr lang="en-US" sz="2200" baseline="30000" dirty="0">
                <a:solidFill>
                  <a:schemeClr val="bg1"/>
                </a:solidFill>
                <a:latin typeface="Titillium Web" panose="00000500000000000000" pitchFamily="2" charset="0"/>
              </a:rPr>
              <a:t>2</a:t>
            </a:r>
            <a:r>
              <a:rPr lang="en-US" sz="2200" dirty="0">
                <a:solidFill>
                  <a:schemeClr val="bg1"/>
                </a:solidFill>
                <a:latin typeface="Titillium Web" panose="00000500000000000000" pitchFamily="2" charset="0"/>
              </a:rPr>
              <a:t>Department of Biology, Appalachian State University ; </a:t>
            </a:r>
            <a:r>
              <a:rPr lang="en-US" sz="2200" baseline="30000" dirty="0">
                <a:solidFill>
                  <a:schemeClr val="bg1"/>
                </a:solidFill>
                <a:latin typeface="Titillium Web" panose="00000500000000000000" pitchFamily="2" charset="0"/>
              </a:rPr>
              <a:t>3</a:t>
            </a:r>
            <a:r>
              <a:rPr lang="en-US" sz="2200" dirty="0">
                <a:solidFill>
                  <a:schemeClr val="bg1"/>
                </a:solidFill>
                <a:latin typeface="Titillium Web" panose="00000500000000000000" pitchFamily="2" charset="0"/>
              </a:rPr>
              <a:t>Department of Biology, Washington University in St. Louis</a:t>
            </a:r>
          </a:p>
        </p:txBody>
      </p:sp>
      <p:pic>
        <p:nvPicPr>
          <p:cNvPr id="274" name="Picture 273" descr="A black background with a black square&#10;&#10;AI-generated content may be incorrect.">
            <a:extLst>
              <a:ext uri="{FF2B5EF4-FFF2-40B4-BE49-F238E27FC236}">
                <a16:creationId xmlns:a16="http://schemas.microsoft.com/office/drawing/2014/main" id="{C8155D72-DD53-BF4B-EA66-1767E1BBB9E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5596846" y="2201272"/>
            <a:ext cx="6041934" cy="1249325"/>
          </a:xfrm>
          <a:prstGeom prst="rect">
            <a:avLst/>
          </a:prstGeom>
        </p:spPr>
      </p:pic>
      <p:pic>
        <p:nvPicPr>
          <p:cNvPr id="275" name="Picture 274" descr="A close-up of a logo&#10;&#10;AI-generated content may be incorrect.">
            <a:extLst>
              <a:ext uri="{FF2B5EF4-FFF2-40B4-BE49-F238E27FC236}">
                <a16:creationId xmlns:a16="http://schemas.microsoft.com/office/drawing/2014/main" id="{BEB2C45A-3B76-6FA5-F210-1428DD6ACED5}"/>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58867" y="1600200"/>
            <a:ext cx="3620219" cy="2162413"/>
          </a:xfrm>
          <a:prstGeom prst="rect">
            <a:avLst/>
          </a:prstGeom>
        </p:spPr>
      </p:pic>
      <p:pic>
        <p:nvPicPr>
          <p:cNvPr id="276" name="Picture 275" descr="A black and white logo&#10;&#10;AI-generated content may be incorrect.">
            <a:extLst>
              <a:ext uri="{FF2B5EF4-FFF2-40B4-BE49-F238E27FC236}">
                <a16:creationId xmlns:a16="http://schemas.microsoft.com/office/drawing/2014/main" id="{057731E4-9684-D89F-5B31-0615A5600331}"/>
              </a:ext>
            </a:extLst>
          </p:cNvPr>
          <p:cNvPicPr>
            <a:picLocks noChangeAspect="1"/>
          </p:cNvPicPr>
          <p:nvPr/>
        </p:nvPicPr>
        <p:blipFill>
          <a:blip r:embed="rId19">
            <a:extLst>
              <a:ext uri="{28A0092B-C50C-407E-A947-70E740481C1C}">
                <a14:useLocalDpi xmlns:a14="http://schemas.microsoft.com/office/drawing/2010/main" val="0"/>
              </a:ext>
            </a:extLst>
          </a:blip>
          <a:srcRect l="11885" b="31232"/>
          <a:stretch>
            <a:fillRect/>
          </a:stretch>
        </p:blipFill>
        <p:spPr>
          <a:xfrm>
            <a:off x="4495800" y="1207578"/>
            <a:ext cx="5323840" cy="2131313"/>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6"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hilosophicalseafoam|08-2022"/>
</p:tagLst>
</file>

<file path=ppt/theme/theme1.xml><?xml version="1.0" encoding="utf-8"?>
<a:theme xmlns:a="http://schemas.openxmlformats.org/drawingml/2006/main" name="Default Desig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3509459-4683-4e86-9b58-902d8740a82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793D6BF9EE76F4A9E4796EF6FCB1482" ma:contentTypeVersion="6" ma:contentTypeDescription="Create a new document." ma:contentTypeScope="" ma:versionID="84aba1a3cf8789982f49c13160e6f560">
  <xsd:schema xmlns:xsd="http://www.w3.org/2001/XMLSchema" xmlns:xs="http://www.w3.org/2001/XMLSchema" xmlns:p="http://schemas.microsoft.com/office/2006/metadata/properties" xmlns:ns3="43509459-4683-4e86-9b58-902d8740a82c" targetNamespace="http://schemas.microsoft.com/office/2006/metadata/properties" ma:root="true" ma:fieldsID="c19d8237ae32b27f1027f409aefaeda4" ns3:_="">
    <xsd:import namespace="43509459-4683-4e86-9b58-902d8740a82c"/>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509459-4683-4e86-9b58-902d8740a8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26794F-1FF9-4CC1-AF5C-A625EAA3B37F}">
  <ds:schemaRefs>
    <ds:schemaRef ds:uri="http://purl.org/dc/elements/1.1/"/>
    <ds:schemaRef ds:uri="http://schemas.microsoft.com/office/2006/metadata/properties"/>
    <ds:schemaRef ds:uri="http://purl.org/dc/dcmitype/"/>
    <ds:schemaRef ds:uri="http://schemas.microsoft.com/office/2006/documentManagement/types"/>
    <ds:schemaRef ds:uri="http://www.w3.org/XML/1998/namespace"/>
    <ds:schemaRef ds:uri="43509459-4683-4e86-9b58-902d8740a82c"/>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A4E402FE-305D-4637-A2E7-32ED7DF878C2}">
  <ds:schemaRefs>
    <ds:schemaRef ds:uri="http://schemas.microsoft.com/sharepoint/v3/contenttype/forms"/>
  </ds:schemaRefs>
</ds:datastoreItem>
</file>

<file path=customXml/itemProps3.xml><?xml version="1.0" encoding="utf-8"?>
<ds:datastoreItem xmlns:ds="http://schemas.openxmlformats.org/officeDocument/2006/customXml" ds:itemID="{0B93E500-AABE-4AFF-9D55-61A3945889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509459-4683-4e86-9b58-902d8740a8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4440</TotalTime>
  <Words>916</Words>
  <Application>Microsoft Office PowerPoint</Application>
  <PresentationFormat>Custom</PresentationFormat>
  <Paragraphs>74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Times New Roman</vt:lpstr>
      <vt:lpstr>Arial</vt:lpstr>
      <vt:lpstr>Titillium Web</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Template For Scientific Poster Presentation</dc:subject>
  <dc:creator>Graphicsland/MakeSigns.com</dc:creator>
  <cp:keywords>scientific, research, template, custom, poster, presentation, symposium, printing, PowerPoint, create, design, example, sample, download</cp:keywords>
  <dc:description>Download our scientific poster templates at no cost to you and get one step closer to making a great research poster.</dc:description>
  <cp:lastModifiedBy>Ethan Coble</cp:lastModifiedBy>
  <cp:revision>69</cp:revision>
  <dcterms:modified xsi:type="dcterms:W3CDTF">2025-08-04T16:58:29Z</dcterms:modified>
  <cp:category>science research poster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0x010100D793D6BF9EE76F4A9E4796EF6FCB1482</vt:lpwstr>
  </property>
</Properties>
</file>